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600" b="1" i="0" u="none" strike="noStrike">
                <a:solidFill>
                  <a:srgbClr val="1F2A5A"/>
                </a:solidFill>
                <a:latin typeface="+mn-lt"/>
              </a:defRPr>
            </a:pPr>
            <a:r>
              <a:rPr lang="en-US" sz="1600" b="1" i="0" u="none" strike="noStrike">
                <a:solidFill>
                  <a:srgbClr val="1F2A5A"/>
                </a:solidFill>
                <a:latin typeface="+mn-lt"/>
              </a:rPr>
              <a:t>Weight of each score in the final ranking (%)</a:t>
            </a:r>
          </a:p>
        </c:rich>
      </c:tx>
      <c:overlay val="0"/>
    </c:title>
    <c:autoTitleDeleted val="0"/>
    <c:plotArea>
      <c:layout/>
      <c:barChart>
        <c:barDir val="col"/>
        <c:grouping val="clustered"/>
        <c:varyColors val="0"/>
        <c:ser>
          <c:idx val="0"/>
          <c:order val="0"/>
          <c:tx>
            <c:strRef>
              <c:f>Sheet1!$B$1</c:f>
              <c:strCache>
                <c:ptCount val="1"/>
                <c:pt idx="0">
                  <c:v>Weight in final score (%)</c:v>
                </c:pt>
              </c:strCache>
            </c:strRef>
          </c:tx>
          <c:spPr>
            <a:solidFill>
              <a:srgbClr val="1F2A5A"/>
            </a:solidFill>
            <a:effectLst/>
          </c:spPr>
          <c:invertIfNegative val="0"/>
          <c:dPt>
            <c:idx val="0"/>
            <c:invertIfNegative val="0"/>
            <c:bubble3D val="0"/>
            <c:extLst>
              <c:ext xmlns:c16="http://schemas.microsoft.com/office/drawing/2014/chart" uri="{C3380CC4-5D6E-409C-BE32-E72D297353CC}">
                <c16:uniqueId val="{00000001-613B-4159-B152-701FFB59DCA5}"/>
              </c:ext>
            </c:extLst>
          </c:dPt>
          <c:dPt>
            <c:idx val="1"/>
            <c:invertIfNegative val="0"/>
            <c:bubble3D val="0"/>
            <c:spPr>
              <a:solidFill>
                <a:srgbClr val="FF6600"/>
              </a:solidFill>
              <a:effectLst/>
            </c:spPr>
            <c:extLst>
              <c:ext xmlns:c16="http://schemas.microsoft.com/office/drawing/2014/chart" uri="{C3380CC4-5D6E-409C-BE32-E72D297353CC}">
                <c16:uniqueId val="{00000003-613B-4159-B152-701FFB59DCA5}"/>
              </c:ext>
            </c:extLst>
          </c:dPt>
          <c:dPt>
            <c:idx val="2"/>
            <c:invertIfNegative val="0"/>
            <c:bubble3D val="0"/>
            <c:spPr>
              <a:solidFill>
                <a:srgbClr val="A9BCD6"/>
              </a:solidFill>
              <a:effectLst/>
            </c:spPr>
            <c:extLst>
              <c:ext xmlns:c16="http://schemas.microsoft.com/office/drawing/2014/chart" uri="{C3380CC4-5D6E-409C-BE32-E72D297353CC}">
                <c16:uniqueId val="{00000005-613B-4159-B152-701FFB59DCA5}"/>
              </c:ext>
            </c:extLst>
          </c:dPt>
          <c:dPt>
            <c:idx val="3"/>
            <c:invertIfNegative val="0"/>
            <c:bubble3D val="0"/>
            <c:spPr>
              <a:solidFill>
                <a:srgbClr val="A9BCD6"/>
              </a:solidFill>
              <a:effectLst/>
            </c:spPr>
            <c:extLst>
              <c:ext xmlns:c16="http://schemas.microsoft.com/office/drawing/2014/chart" uri="{C3380CC4-5D6E-409C-BE32-E72D297353CC}">
                <c16:uniqueId val="{00000007-613B-4159-B152-701FFB59DCA5}"/>
              </c:ext>
            </c:extLst>
          </c:dPt>
          <c:dPt>
            <c:idx val="4"/>
            <c:invertIfNegative val="0"/>
            <c:bubble3D val="0"/>
            <c:spPr>
              <a:solidFill>
                <a:srgbClr val="A9BCD6"/>
              </a:solidFill>
              <a:effectLst/>
            </c:spPr>
            <c:extLst>
              <c:ext xmlns:c16="http://schemas.microsoft.com/office/drawing/2014/chart" uri="{C3380CC4-5D6E-409C-BE32-E72D297353CC}">
                <c16:uniqueId val="{00000009-613B-4159-B152-701FFB59DCA5}"/>
              </c:ext>
            </c:extLst>
          </c:dPt>
          <c:dLbls>
            <c:numFmt formatCode="0&quot;%&quot;" sourceLinked="0"/>
            <c:spPr>
              <a:noFill/>
              <a:ln>
                <a:noFill/>
              </a:ln>
              <a:effectLst/>
            </c:spPr>
            <c:txPr>
              <a:bodyPr/>
              <a:lstStyle/>
              <a:p>
                <a:pPr>
                  <a:defRPr sz="1400" b="0" i="0" u="none" strike="noStrike">
                    <a:solidFill>
                      <a:srgbClr val="1F1F1F"/>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Content</c:v>
                </c:pt>
                <c:pt idx="1">
                  <c:v>Mood</c:v>
                </c:pt>
                <c:pt idx="2">
                  <c:v>Language</c:v>
                </c:pt>
                <c:pt idx="3">
                  <c:v>Runtime</c:v>
                </c:pt>
                <c:pt idx="4">
                  <c:v>Rating</c:v>
                </c:pt>
              </c:strCache>
            </c:strRef>
          </c:cat>
          <c:val>
            <c:numRef>
              <c:f>Sheet1!$B$2:$B$6</c:f>
              <c:numCache>
                <c:formatCode>General</c:formatCode>
                <c:ptCount val="5"/>
                <c:pt idx="0">
                  <c:v>55</c:v>
                </c:pt>
                <c:pt idx="1">
                  <c:v>20</c:v>
                </c:pt>
                <c:pt idx="2">
                  <c:v>10</c:v>
                </c:pt>
                <c:pt idx="3">
                  <c:v>10</c:v>
                </c:pt>
                <c:pt idx="4">
                  <c:v>5</c:v>
                </c:pt>
              </c:numCache>
            </c:numRef>
          </c:val>
          <c:extLst>
            <c:ext xmlns:c16="http://schemas.microsoft.com/office/drawing/2014/chart" uri="{C3380CC4-5D6E-409C-BE32-E72D297353CC}">
              <c16:uniqueId val="{0000000A-613B-4159-B152-701FFB59DCA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4A4A4A"/>
                </a:solidFill>
                <a:latin typeface="+mn-lt"/>
              </a:defRPr>
            </a:pPr>
            <a:endParaRPr lang="en-US"/>
          </a:p>
        </c:txPr>
        <c:crossAx val="2094734552"/>
        <c:crosses val="autoZero"/>
        <c:auto val="1"/>
        <c:lblAlgn val="ctr"/>
        <c:lblOffset val="100"/>
        <c:noMultiLvlLbl val="1"/>
      </c:catAx>
      <c:valAx>
        <c:axId val="2094734552"/>
        <c:scaling>
          <c:orientation val="minMax"/>
          <c:max val="7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0075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our machine learning project, the Smart Movie Recommendation System, developed under the guidance of Mr. G. Siva Sankar, Department of AI and ML, Aditya University.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recommends movies using content similarity and then ranks them with the user's mood, language, runtime and rating. It is built on 4,803 movies from the TMDB 5000 dataset with 5,000 TF-IDF features, shows up to five recommendations with explanations, and passed all ten test cases.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Movies are popular, but catalogues are huge. Content-based filtering recommends movies similar to one the user already likes, using descriptive information. We combine genres, keywords, overview, cast and director into a tags field, convert it with TF-IDF and compare movies with cosine similarity. On top of that, the system searches, personalizes and explains.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four problems: too many choices in large catalogues, shallow matching by title or genre only, recommendations that ignore the user's mood, language, runtime and rating, and results that are not explained.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are a clean dataset with TF-IDF features, cosine similarity, TMDB candidates, preference-based ranking, a Streamlit interface and explanations. The scope is a content-based prototype on the TMDB 5000 data; it does not use collaborative filtering or personal viewing history.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dataset contains 4,803 movies and 12 columns after preprocessing. Genres, keywords, overview, cast, and director are combined into a single </a:t>
            </a:r>
            <a:r>
              <a:rPr lang="en-IN" sz="1200" kern="1200" dirty="0">
                <a:solidFill>
                  <a:schemeClr val="tx1"/>
                </a:solidFill>
                <a:latin typeface="+mn-lt"/>
                <a:ea typeface="+mn-ea"/>
                <a:cs typeface="+mn-cs"/>
              </a:rPr>
              <a:t>tags</a:t>
            </a:r>
            <a:r>
              <a:rPr lang="en-IN" dirty="0"/>
              <a:t> column, which is used to generate TF-IDF vectors for calculating movie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has five steps: load and join the CSV files with Pandas; parse genres, keywords, cast and director into readable names; check missing values and duplicates; build the tags column; then fit TF-IDF and save the artifacts with Pickle.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building the model we checked the shape of the data, missing values, duplicates, and how each feature contributes to similarity. The final table has 4,803 rows and 12 columns, and the TF-IDF matrix has shape 4,803 by 5,000.</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has two parts. Offline, the data is prepared and the TF-IDF artifacts are saved. Online, a request flows from the Streamlit interface through local similarity and TMDB candidates, duplicate removal and preference ranking to the top five recommendations with explanations. The TMDB token is kept in Streamlit secrets and no personal information is collected.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methods work together. TF-IDF converts movie tags to numerical vectors. Cosine similarity measures the angle between two vectors to find similar movies. A weighted formula then combines content relevance with mood, language, runtime and rating scores to rank candidates.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labelled training data: TF-IDF is fitted once on the tags column and the vectors are saved. Testing was done at four levels, unit, integration, recommendation and user interface, and all ten functional test cases passed.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relevance carries the most weight at 55 percent, mood 20, language and runtime 10 each and rating 5. We evaluated the recommendations by checking their relevance for different movie titles and preference combinations. Formal metrics such as precision at k are planned as future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user searched Zindagi Na Milegi Dobara with the Relaxed mood and a minimum rating of 7. On the right the final results show each recommendation with rating, language, runtime, source and a short Why this movie reason.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system combines content-based filtering, TMDB integration and user preferences to give personalized recommendations with explanations in a simple Streamlit application. Future work includes semantic embeddings, collaborative filtering, learning from feedback, a richer interface and formal evaluation metrics.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papers, books, libraries, datasets and services the project is built 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pdfimg/im-001.jpg"/>
          <p:cNvPicPr>
            <a:picLocks noChangeAspect="1"/>
          </p:cNvPicPr>
          <p:nvPr/>
        </p:nvPicPr>
        <p:blipFill>
          <a:blip r:embed="rId2"/>
          <a:stretch>
            <a:fillRect/>
          </a:stretch>
        </p:blipFill>
        <p:spPr>
          <a:xfrm>
            <a:off x="9537192" y="320040"/>
            <a:ext cx="2103120" cy="36358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dfimg/im-001.jpg"/>
          <p:cNvPicPr>
            <a:picLocks noChangeAspect="1"/>
          </p:cNvPicPr>
          <p:nvPr/>
        </p:nvPicPr>
        <p:blipFill>
          <a:blip r:embed="rId3"/>
          <a:stretch>
            <a:fillRect/>
          </a:stretch>
        </p:blipFill>
        <p:spPr>
          <a:xfrm>
            <a:off x="3717036" y="411480"/>
            <a:ext cx="4754880" cy="822017"/>
          </a:xfrm>
          <a:prstGeom prst="rect">
            <a:avLst/>
          </a:prstGeom>
        </p:spPr>
      </p:pic>
      <p:sp>
        <p:nvSpPr>
          <p:cNvPr id="3" name="Text 0"/>
          <p:cNvSpPr txBox="1"/>
          <p:nvPr/>
        </p:nvSpPr>
        <p:spPr>
          <a:xfrm>
            <a:off x="914400" y="1691640"/>
            <a:ext cx="10360152" cy="365760"/>
          </a:xfrm>
          <a:prstGeom prst="rect">
            <a:avLst/>
          </a:prstGeom>
          <a:noFill/>
          <a:ln/>
        </p:spPr>
        <p:txBody>
          <a:bodyPr wrap="square" lIns="0" tIns="0" rIns="0" bIns="0" rtlCol="0" anchor="t"/>
          <a:lstStyle/>
          <a:p>
            <a:pPr marL="0" indent="0" algn="ctr">
              <a:buNone/>
            </a:pPr>
            <a:r>
              <a:rPr lang="en-US" sz="1800" b="1" dirty="0">
                <a:solidFill>
                  <a:srgbClr val="1F2A5A"/>
                </a:solidFill>
                <a:latin typeface="Times New Roman" pitchFamily="34" charset="0"/>
                <a:ea typeface="Times New Roman" pitchFamily="34" charset="-122"/>
                <a:cs typeface="Times New Roman" pitchFamily="34" charset="-120"/>
              </a:rPr>
              <a:t>MACHINE LEARNING  |  FINAL REVIEW</a:t>
            </a:r>
            <a:endParaRPr lang="en-US" sz="1800" dirty="0"/>
          </a:p>
        </p:txBody>
      </p:sp>
      <p:sp>
        <p:nvSpPr>
          <p:cNvPr id="4" name="Text 1"/>
          <p:cNvSpPr txBox="1"/>
          <p:nvPr/>
        </p:nvSpPr>
        <p:spPr>
          <a:xfrm>
            <a:off x="914400" y="2148840"/>
            <a:ext cx="10360152" cy="731520"/>
          </a:xfrm>
          <a:prstGeom prst="rect">
            <a:avLst/>
          </a:prstGeom>
          <a:noFill/>
          <a:ln/>
        </p:spPr>
        <p:txBody>
          <a:bodyPr wrap="square" lIns="0" tIns="0" rIns="0" bIns="0" rtlCol="0" anchor="ctr"/>
          <a:lstStyle/>
          <a:p>
            <a:pPr marL="0" indent="0" algn="ctr">
              <a:buNone/>
            </a:pPr>
            <a:r>
              <a:rPr lang="en-US" sz="3200" b="1" dirty="0">
                <a:solidFill>
                  <a:srgbClr val="FF6600"/>
                </a:solidFill>
                <a:latin typeface="Times New Roman" pitchFamily="34" charset="0"/>
                <a:ea typeface="Times New Roman" pitchFamily="34" charset="-122"/>
                <a:cs typeface="Times New Roman" pitchFamily="34" charset="-120"/>
              </a:rPr>
              <a:t>SMART MOVIE RECOMMENDATION SYSTEM</a:t>
            </a:r>
            <a:endParaRPr lang="en-US" sz="3200" dirty="0"/>
          </a:p>
        </p:txBody>
      </p:sp>
      <p:sp>
        <p:nvSpPr>
          <p:cNvPr id="5" name="Text 2"/>
          <p:cNvSpPr txBox="1"/>
          <p:nvPr/>
        </p:nvSpPr>
        <p:spPr>
          <a:xfrm>
            <a:off x="914400" y="3108960"/>
            <a:ext cx="10360152" cy="320040"/>
          </a:xfrm>
          <a:prstGeom prst="rect">
            <a:avLst/>
          </a:prstGeom>
          <a:noFill/>
          <a:ln/>
        </p:spPr>
        <p:txBody>
          <a:bodyPr wrap="square" lIns="0" tIns="0" rIns="0" bIns="0" rtlCol="0" anchor="t"/>
          <a:lstStyle/>
          <a:p>
            <a:pPr marL="0" indent="0" algn="ctr">
              <a:buNone/>
            </a:pPr>
            <a:r>
              <a:rPr lang="en-US" sz="1800" i="1" dirty="0">
                <a:solidFill>
                  <a:srgbClr val="4A4A4A"/>
                </a:solidFill>
                <a:latin typeface="Times New Roman" pitchFamily="34" charset="0"/>
                <a:ea typeface="Times New Roman" pitchFamily="34" charset="-122"/>
                <a:cs typeface="Times New Roman" pitchFamily="34" charset="-120"/>
              </a:rPr>
              <a:t>Presented by</a:t>
            </a:r>
            <a:endParaRPr lang="en-US" sz="1800" dirty="0"/>
          </a:p>
        </p:txBody>
      </p:sp>
      <p:sp>
        <p:nvSpPr>
          <p:cNvPr id="6" name="Text 3"/>
          <p:cNvSpPr txBox="1"/>
          <p:nvPr/>
        </p:nvSpPr>
        <p:spPr>
          <a:xfrm>
            <a:off x="914400" y="3474720"/>
            <a:ext cx="10360152" cy="1051560"/>
          </a:xfrm>
          <a:prstGeom prst="rect">
            <a:avLst/>
          </a:prstGeom>
          <a:noFill/>
          <a:ln/>
        </p:spPr>
        <p:txBody>
          <a:bodyPr wrap="square" lIns="0" tIns="0" rIns="0" bIns="0" rtlCol="0" anchor="t"/>
          <a:lstStyle/>
          <a:p>
            <a:pPr marL="0" indent="0" algn="ctr">
              <a:spcAft>
                <a:spcPts val="400"/>
              </a:spcAft>
              <a:buNone/>
            </a:pPr>
            <a:r>
              <a:rPr lang="en-US" sz="2000" b="1" dirty="0">
                <a:solidFill>
                  <a:srgbClr val="1F1F1F"/>
                </a:solidFill>
                <a:latin typeface="Times New Roman" pitchFamily="34" charset="0"/>
                <a:ea typeface="Times New Roman" pitchFamily="34" charset="-122"/>
                <a:cs typeface="Times New Roman" pitchFamily="34" charset="-120"/>
              </a:rPr>
              <a:t>D. Swetha (24B11AI087)</a:t>
            </a:r>
            <a:endParaRPr lang="en-US" sz="2000" dirty="0"/>
          </a:p>
          <a:p>
            <a:pPr marL="0" indent="0" algn="ctr">
              <a:spcAft>
                <a:spcPts val="400"/>
              </a:spcAft>
              <a:buNone/>
            </a:pPr>
            <a:r>
              <a:rPr lang="en-US" sz="2000" b="1" dirty="0">
                <a:solidFill>
                  <a:srgbClr val="1F1F1F"/>
                </a:solidFill>
                <a:latin typeface="Times New Roman" pitchFamily="34" charset="0"/>
                <a:ea typeface="Times New Roman" pitchFamily="34" charset="-122"/>
                <a:cs typeface="Times New Roman" pitchFamily="34" charset="-120"/>
              </a:rPr>
              <a:t>K. Rishi Sahithi (24B11AI154)</a:t>
            </a:r>
            <a:endParaRPr lang="en-US" sz="2000" dirty="0"/>
          </a:p>
          <a:p>
            <a:pPr marL="0" indent="0" algn="ctr">
              <a:spcAft>
                <a:spcPts val="400"/>
              </a:spcAft>
              <a:buNone/>
            </a:pPr>
            <a:r>
              <a:rPr lang="en-US" sz="2000" b="1" dirty="0">
                <a:solidFill>
                  <a:srgbClr val="1F1F1F"/>
                </a:solidFill>
                <a:latin typeface="Times New Roman" pitchFamily="34" charset="0"/>
                <a:ea typeface="Times New Roman" pitchFamily="34" charset="-122"/>
                <a:cs typeface="Times New Roman" pitchFamily="34" charset="-120"/>
              </a:rPr>
              <a:t>K. Keerthi Reddy (24B11AI159)</a:t>
            </a:r>
            <a:endParaRPr lang="en-US" sz="2000" dirty="0"/>
          </a:p>
        </p:txBody>
      </p:sp>
      <p:sp>
        <p:nvSpPr>
          <p:cNvPr id="9" name="Text 6"/>
          <p:cNvSpPr txBox="1"/>
          <p:nvPr/>
        </p:nvSpPr>
        <p:spPr>
          <a:xfrm>
            <a:off x="914400" y="5669280"/>
            <a:ext cx="10360152" cy="365760"/>
          </a:xfrm>
          <a:prstGeom prst="rect">
            <a:avLst/>
          </a:prstGeom>
          <a:noFill/>
          <a:ln/>
        </p:spPr>
        <p:txBody>
          <a:bodyPr wrap="square" lIns="0" tIns="0" rIns="0" bIns="0" rtlCol="0" anchor="t"/>
          <a:lstStyle/>
          <a:p>
            <a:pPr marL="0" indent="0" algn="ctr">
              <a:buNone/>
            </a:pPr>
            <a:r>
              <a:rPr lang="en-US" sz="1800" dirty="0">
                <a:solidFill>
                  <a:srgbClr val="1F2A5A"/>
                </a:solidFill>
                <a:latin typeface="Times New Roman" pitchFamily="34" charset="0"/>
                <a:ea typeface="Times New Roman" pitchFamily="34" charset="-122"/>
                <a:cs typeface="Times New Roman" pitchFamily="34" charset="-120"/>
              </a:rPr>
              <a:t>Department of Artificial Intelligence and Machine Learning, Aditya University</a:t>
            </a:r>
            <a:endParaRPr lang="en-US" sz="1800" dirty="0"/>
          </a:p>
        </p:txBody>
      </p:sp>
      <p:sp>
        <p:nvSpPr>
          <p:cNvPr id="11" name="TextBox 10">
            <a:extLst>
              <a:ext uri="{FF2B5EF4-FFF2-40B4-BE49-F238E27FC236}">
                <a16:creationId xmlns:a16="http://schemas.microsoft.com/office/drawing/2014/main" id="{3357EE46-468D-F109-E6CA-979B0B76DF3D}"/>
              </a:ext>
            </a:extLst>
          </p:cNvPr>
          <p:cNvSpPr txBox="1"/>
          <p:nvPr/>
        </p:nvSpPr>
        <p:spPr>
          <a:xfrm>
            <a:off x="3829812" y="4628091"/>
            <a:ext cx="4532376" cy="805349"/>
          </a:xfrm>
          <a:prstGeom prst="rect">
            <a:avLst/>
          </a:prstGeom>
          <a:noFill/>
        </p:spPr>
        <p:txBody>
          <a:bodyPr wrap="square">
            <a:spAutoFit/>
          </a:bodyPr>
          <a:lstStyle/>
          <a:p>
            <a:pPr marL="1270" algn="ctr">
              <a:lnSpc>
                <a:spcPct val="100000"/>
              </a:lnSpc>
              <a:spcBef>
                <a:spcPts val="994"/>
              </a:spcBef>
            </a:pPr>
            <a:r>
              <a:rPr lang="en-US" i="1" spc="-10" dirty="0">
                <a:solidFill>
                  <a:schemeClr val="tx1">
                    <a:lumMod val="95000"/>
                    <a:lumOff val="5000"/>
                  </a:schemeClr>
                </a:solidFill>
                <a:latin typeface="Times New Roman" panose="02020603050405020304" pitchFamily="18" charset="0"/>
                <a:cs typeface="Times New Roman" panose="02020603050405020304" pitchFamily="18" charset="0"/>
              </a:rPr>
              <a:t>Guided by</a:t>
            </a:r>
          </a:p>
          <a:p>
            <a:pPr marL="1270" algn="ctr">
              <a:lnSpc>
                <a:spcPct val="100000"/>
              </a:lnSpc>
              <a:spcBef>
                <a:spcPts val="994"/>
              </a:spcBef>
            </a:pPr>
            <a:r>
              <a:rPr lang="en-US" sz="2000" spc="-10" dirty="0">
                <a:solidFill>
                  <a:schemeClr val="tx1">
                    <a:lumMod val="95000"/>
                    <a:lumOff val="5000"/>
                  </a:schemeClr>
                </a:solidFill>
                <a:latin typeface="Times New Roman" panose="02020603050405020304" pitchFamily="18" charset="0"/>
                <a:cs typeface="Times New Roman" panose="02020603050405020304" pitchFamily="18" charset="0"/>
              </a:rPr>
              <a:t>Mr. G. Siva Sankar</a:t>
            </a:r>
            <a:r>
              <a:rPr lang="en-US" sz="1600" spc="-10" dirty="0">
                <a:solidFill>
                  <a:schemeClr val="tx1">
                    <a:lumMod val="95000"/>
                    <a:lumOff val="5000"/>
                  </a:schemeClr>
                </a:solidFill>
                <a:latin typeface="Times New Roman" panose="02020603050405020304" pitchFamily="18" charset="0"/>
                <a:cs typeface="Times New Roman" panose="02020603050405020304" pitchFamily="18" charset="0"/>
              </a:rPr>
              <a:t>(asst. professor, AIML)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Abstract</a:t>
            </a:r>
            <a:endParaRPr lang="en-US" sz="3200" dirty="0"/>
          </a:p>
        </p:txBody>
      </p:sp>
      <p:sp>
        <p:nvSpPr>
          <p:cNvPr id="4" name="Text 1"/>
          <p:cNvSpPr txBox="1"/>
          <p:nvPr/>
        </p:nvSpPr>
        <p:spPr>
          <a:xfrm>
            <a:off x="548640" y="1417320"/>
            <a:ext cx="11064240" cy="1737360"/>
          </a:xfrm>
          <a:prstGeom prst="rect">
            <a:avLst/>
          </a:prstGeom>
          <a:noFill/>
          <a:ln/>
        </p:spPr>
        <p:txBody>
          <a:bodyPr wrap="square" lIns="0" tIns="0" rIns="0" bIns="0" rtlCol="0" anchor="t"/>
          <a:lstStyle/>
          <a:p>
            <a:pPr marL="0" indent="0">
              <a:lnSpc>
                <a:spcPct val="110000"/>
              </a:lnSpc>
              <a:buNone/>
            </a:pPr>
            <a:r>
              <a:rPr lang="en-US" sz="1800" b="1" dirty="0">
                <a:solidFill>
                  <a:srgbClr val="1F1F1F"/>
                </a:solidFill>
                <a:latin typeface="Times New Roman" pitchFamily="34" charset="0"/>
                <a:ea typeface="Times New Roman" pitchFamily="34" charset="-122"/>
                <a:cs typeface="Times New Roman" pitchFamily="34" charset="-120"/>
              </a:rPr>
              <a:t>Smart Movie Recommendation System</a:t>
            </a:r>
            <a:r>
              <a:rPr lang="en-US" sz="1800" dirty="0">
                <a:solidFill>
                  <a:srgbClr val="1F1F1F"/>
                </a:solidFill>
                <a:latin typeface="Times New Roman" pitchFamily="34" charset="0"/>
                <a:ea typeface="Times New Roman" pitchFamily="34" charset="-122"/>
                <a:cs typeface="Times New Roman" pitchFamily="34" charset="-120"/>
              </a:rPr>
              <a:t> is a machine learning-based Streamlit web application that helps users discover movies by interest, mood and preference. It turns genres, keywords, overview, cast and director into TF-IDF vectors, finds similar movies with cosine similarity, adds candidates from the TMDB API, and ranks them by content, mood, language, runtime and rating, with a short “Why this movie?” explanation.</a:t>
            </a:r>
            <a:endParaRPr lang="en-US" sz="1800" dirty="0"/>
          </a:p>
        </p:txBody>
      </p:sp>
      <p:sp>
        <p:nvSpPr>
          <p:cNvPr id="5" name="Shape 2"/>
          <p:cNvSpPr/>
          <p:nvPr/>
        </p:nvSpPr>
        <p:spPr>
          <a:xfrm>
            <a:off x="1234440" y="3439886"/>
            <a:ext cx="2615184" cy="1600200"/>
          </a:xfrm>
          <a:prstGeom prst="roundRect">
            <a:avLst>
              <a:gd name="adj" fmla="val 5714"/>
            </a:avLst>
          </a:prstGeom>
          <a:solidFill>
            <a:srgbClr val="FFF0E5"/>
          </a:solidFill>
          <a:ln w="9525">
            <a:solidFill>
              <a:srgbClr val="D0D7E2"/>
            </a:solidFill>
            <a:prstDash val="solid"/>
          </a:ln>
          <a:effectLst>
            <a:outerShdw blurRad="76200" dist="25400" dir="5400000" algn="bl" rotWithShape="0">
              <a:srgbClr val="000000">
                <a:alpha val="12000"/>
              </a:srgbClr>
            </a:outerShdw>
          </a:effectLst>
        </p:spPr>
      </p:sp>
      <p:sp>
        <p:nvSpPr>
          <p:cNvPr id="6" name="Text 3"/>
          <p:cNvSpPr txBox="1"/>
          <p:nvPr/>
        </p:nvSpPr>
        <p:spPr>
          <a:xfrm>
            <a:off x="1371600" y="3553968"/>
            <a:ext cx="2340864" cy="800100"/>
          </a:xfrm>
          <a:prstGeom prst="rect">
            <a:avLst/>
          </a:prstGeom>
          <a:noFill/>
          <a:ln/>
        </p:spPr>
        <p:txBody>
          <a:bodyPr wrap="square" lIns="0" tIns="0" rIns="0" bIns="0" rtlCol="0" anchor="ctr"/>
          <a:lstStyle/>
          <a:p>
            <a:pPr marL="0" indent="0" algn="ctr">
              <a:buNone/>
            </a:pPr>
            <a:r>
              <a:rPr lang="en-US" sz="3000" b="1" dirty="0">
                <a:solidFill>
                  <a:srgbClr val="FF6600"/>
                </a:solidFill>
                <a:latin typeface="Times New Roman" pitchFamily="34" charset="0"/>
                <a:ea typeface="Times New Roman" pitchFamily="34" charset="-122"/>
                <a:cs typeface="Times New Roman" pitchFamily="34" charset="-120"/>
              </a:rPr>
              <a:t>4,803</a:t>
            </a:r>
            <a:endParaRPr lang="en-US" sz="3000" dirty="0"/>
          </a:p>
        </p:txBody>
      </p:sp>
      <p:sp>
        <p:nvSpPr>
          <p:cNvPr id="7" name="Text 4"/>
          <p:cNvSpPr txBox="1"/>
          <p:nvPr/>
        </p:nvSpPr>
        <p:spPr>
          <a:xfrm>
            <a:off x="1303020" y="4345142"/>
            <a:ext cx="2340864" cy="576072"/>
          </a:xfrm>
          <a:prstGeom prst="rect">
            <a:avLst/>
          </a:prstGeom>
          <a:noFill/>
          <a:ln/>
        </p:spPr>
        <p:txBody>
          <a:bodyPr wrap="square" lIns="0" tIns="0" rIns="0" bIns="0" rtlCol="0" anchor="t"/>
          <a:lstStyle/>
          <a:p>
            <a:pPr marL="0" indent="0" algn="ctr">
              <a:buNone/>
            </a:pPr>
            <a:r>
              <a:rPr lang="en-US" sz="1400" dirty="0">
                <a:solidFill>
                  <a:srgbClr val="4A4A4A"/>
                </a:solidFill>
                <a:latin typeface="Times New Roman" pitchFamily="34" charset="0"/>
                <a:ea typeface="Times New Roman" pitchFamily="34" charset="-122"/>
                <a:cs typeface="Times New Roman" pitchFamily="34" charset="-120"/>
              </a:rPr>
              <a:t>movies in the dataset</a:t>
            </a:r>
            <a:endParaRPr lang="en-US" sz="1400" dirty="0"/>
          </a:p>
        </p:txBody>
      </p:sp>
      <p:sp>
        <p:nvSpPr>
          <p:cNvPr id="8" name="Shape 5"/>
          <p:cNvSpPr/>
          <p:nvPr/>
        </p:nvSpPr>
        <p:spPr>
          <a:xfrm>
            <a:off x="4393692" y="3445329"/>
            <a:ext cx="2615184" cy="1600200"/>
          </a:xfrm>
          <a:prstGeom prst="roundRect">
            <a:avLst>
              <a:gd name="adj" fmla="val 5714"/>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9" name="Text 6"/>
          <p:cNvSpPr txBox="1"/>
          <p:nvPr/>
        </p:nvSpPr>
        <p:spPr>
          <a:xfrm>
            <a:off x="4530852" y="3538728"/>
            <a:ext cx="2340864" cy="800100"/>
          </a:xfrm>
          <a:prstGeom prst="rect">
            <a:avLst/>
          </a:prstGeom>
          <a:noFill/>
          <a:ln/>
        </p:spPr>
        <p:txBody>
          <a:bodyPr wrap="square" lIns="0" tIns="0" rIns="0" bIns="0" rtlCol="0" anchor="ctr"/>
          <a:lstStyle/>
          <a:p>
            <a:pPr marL="0" indent="0" algn="ctr">
              <a:buNone/>
            </a:pPr>
            <a:r>
              <a:rPr lang="en-US" sz="3000" b="1" dirty="0">
                <a:solidFill>
                  <a:srgbClr val="1F2A5A"/>
                </a:solidFill>
                <a:latin typeface="Times New Roman" pitchFamily="34" charset="0"/>
                <a:ea typeface="Times New Roman" pitchFamily="34" charset="-122"/>
                <a:cs typeface="Times New Roman" pitchFamily="34" charset="-120"/>
              </a:rPr>
              <a:t>5,000</a:t>
            </a:r>
            <a:endParaRPr lang="en-US" sz="3000" dirty="0"/>
          </a:p>
        </p:txBody>
      </p:sp>
      <p:sp>
        <p:nvSpPr>
          <p:cNvPr id="10" name="Text 7"/>
          <p:cNvSpPr txBox="1"/>
          <p:nvPr/>
        </p:nvSpPr>
        <p:spPr>
          <a:xfrm>
            <a:off x="4530852" y="4246300"/>
            <a:ext cx="2340864" cy="576072"/>
          </a:xfrm>
          <a:prstGeom prst="rect">
            <a:avLst/>
          </a:prstGeom>
          <a:noFill/>
          <a:ln/>
        </p:spPr>
        <p:txBody>
          <a:bodyPr wrap="square" lIns="0" tIns="0" rIns="0" bIns="0" rtlCol="0" anchor="t"/>
          <a:lstStyle/>
          <a:p>
            <a:pPr marL="0" indent="0" algn="ctr">
              <a:buNone/>
            </a:pPr>
            <a:r>
              <a:rPr lang="en-US" sz="1400" dirty="0">
                <a:solidFill>
                  <a:srgbClr val="4A4A4A"/>
                </a:solidFill>
                <a:latin typeface="Times New Roman" pitchFamily="34" charset="0"/>
                <a:ea typeface="Times New Roman" pitchFamily="34" charset="-122"/>
                <a:cs typeface="Times New Roman" pitchFamily="34" charset="-120"/>
              </a:rPr>
              <a:t>TF-IDF features</a:t>
            </a:r>
            <a:endParaRPr lang="en-US" sz="1400" dirty="0"/>
          </a:p>
        </p:txBody>
      </p:sp>
      <p:sp>
        <p:nvSpPr>
          <p:cNvPr id="11" name="Shape 8"/>
          <p:cNvSpPr/>
          <p:nvPr/>
        </p:nvSpPr>
        <p:spPr>
          <a:xfrm>
            <a:off x="7720586" y="3429000"/>
            <a:ext cx="2615184" cy="1600200"/>
          </a:xfrm>
          <a:prstGeom prst="roundRect">
            <a:avLst>
              <a:gd name="adj" fmla="val 5714"/>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2" name="Text 9"/>
          <p:cNvSpPr txBox="1"/>
          <p:nvPr/>
        </p:nvSpPr>
        <p:spPr>
          <a:xfrm>
            <a:off x="7857746" y="3541558"/>
            <a:ext cx="2340864" cy="800100"/>
          </a:xfrm>
          <a:prstGeom prst="rect">
            <a:avLst/>
          </a:prstGeom>
          <a:noFill/>
          <a:ln/>
        </p:spPr>
        <p:txBody>
          <a:bodyPr wrap="square" lIns="0" tIns="0" rIns="0" bIns="0" rtlCol="0" anchor="ctr"/>
          <a:lstStyle/>
          <a:p>
            <a:pPr marL="0" indent="0" algn="ctr">
              <a:buNone/>
            </a:pPr>
            <a:r>
              <a:rPr lang="en-US" sz="3000" b="1" dirty="0">
                <a:solidFill>
                  <a:srgbClr val="1F2A5A"/>
                </a:solidFill>
                <a:latin typeface="Times New Roman" pitchFamily="34" charset="0"/>
                <a:ea typeface="Times New Roman" pitchFamily="34" charset="-122"/>
                <a:cs typeface="Times New Roman" pitchFamily="34" charset="-120"/>
              </a:rPr>
              <a:t>5</a:t>
            </a:r>
            <a:endParaRPr lang="en-US" sz="3000" dirty="0"/>
          </a:p>
        </p:txBody>
      </p:sp>
      <p:sp>
        <p:nvSpPr>
          <p:cNvPr id="13" name="Text 10"/>
          <p:cNvSpPr txBox="1"/>
          <p:nvPr/>
        </p:nvSpPr>
        <p:spPr>
          <a:xfrm>
            <a:off x="7926326" y="4231930"/>
            <a:ext cx="2340864" cy="576072"/>
          </a:xfrm>
          <a:prstGeom prst="rect">
            <a:avLst/>
          </a:prstGeom>
          <a:noFill/>
          <a:ln/>
        </p:spPr>
        <p:txBody>
          <a:bodyPr wrap="square" lIns="0" tIns="0" rIns="0" bIns="0" rtlCol="0" anchor="t"/>
          <a:lstStyle/>
          <a:p>
            <a:pPr marL="0" indent="0" algn="ctr">
              <a:buNone/>
            </a:pPr>
            <a:r>
              <a:rPr lang="en-US" sz="1400" dirty="0">
                <a:solidFill>
                  <a:srgbClr val="4A4A4A"/>
                </a:solidFill>
                <a:latin typeface="Times New Roman" pitchFamily="34" charset="0"/>
                <a:ea typeface="Times New Roman" pitchFamily="34" charset="-122"/>
                <a:cs typeface="Times New Roman" pitchFamily="34" charset="-120"/>
              </a:rPr>
              <a:t>top picks shown</a:t>
            </a:r>
            <a:endParaRPr lang="en-US" sz="1400" dirty="0"/>
          </a:p>
        </p:txBody>
      </p:sp>
      <p:sp>
        <p:nvSpPr>
          <p:cNvPr id="17" name="Text 14"/>
          <p:cNvSpPr txBox="1"/>
          <p:nvPr/>
        </p:nvSpPr>
        <p:spPr>
          <a:xfrm>
            <a:off x="548640" y="5577840"/>
            <a:ext cx="11064240" cy="365760"/>
          </a:xfrm>
          <a:prstGeom prst="rect">
            <a:avLst/>
          </a:prstGeom>
          <a:noFill/>
          <a:ln/>
        </p:spPr>
        <p:txBody>
          <a:bodyPr wrap="square" lIns="0" tIns="0" rIns="0" bIns="0" rtlCol="0" anchor="t"/>
          <a:lstStyle/>
          <a:p>
            <a:pPr marL="0" indent="0" algn="ctr">
              <a:buNone/>
            </a:pPr>
            <a:r>
              <a:rPr lang="en-US" sz="1600" i="1" dirty="0">
                <a:solidFill>
                  <a:srgbClr val="1F2A5A"/>
                </a:solidFill>
                <a:latin typeface="Times New Roman" pitchFamily="34" charset="0"/>
                <a:ea typeface="Times New Roman" pitchFamily="34" charset="-122"/>
                <a:cs typeface="Times New Roman" pitchFamily="34" charset="-120"/>
              </a:rPr>
              <a:t>Python · Pandas · scikit-learn · Streamlit · Requests · Pickle · TMDB API</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Introduction</a:t>
            </a:r>
            <a:endParaRPr lang="en-US" sz="3200" dirty="0"/>
          </a:p>
        </p:txBody>
      </p:sp>
      <p:sp>
        <p:nvSpPr>
          <p:cNvPr id="4" name="Text 1"/>
          <p:cNvSpPr txBox="1"/>
          <p:nvPr/>
        </p:nvSpPr>
        <p:spPr>
          <a:xfrm>
            <a:off x="548640" y="1371600"/>
            <a:ext cx="530352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Content-based filtering</a:t>
            </a:r>
            <a:endParaRPr lang="en-US" sz="2000" dirty="0"/>
          </a:p>
        </p:txBody>
      </p:sp>
      <p:sp>
        <p:nvSpPr>
          <p:cNvPr id="5" name="Text 2"/>
          <p:cNvSpPr txBox="1"/>
          <p:nvPr/>
        </p:nvSpPr>
        <p:spPr>
          <a:xfrm>
            <a:off x="548640" y="1874520"/>
            <a:ext cx="5394960" cy="393192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rgbClr val="1F1F1F"/>
                </a:solidFill>
                <a:latin typeface="Times New Roman" pitchFamily="34" charset="0"/>
                <a:ea typeface="Times New Roman" pitchFamily="34" charset="-122"/>
                <a:cs typeface="Times New Roman" pitchFamily="34" charset="-120"/>
              </a:rPr>
              <a:t>Recommends items similar to a selected item using its own descriptive information</a:t>
            </a:r>
            <a:endParaRPr lang="en-US" sz="1900" dirty="0"/>
          </a:p>
          <a:p>
            <a:pPr marL="228600" indent="-228600">
              <a:spcAft>
                <a:spcPts val="800"/>
              </a:spcAft>
              <a:buSzPct val="100000"/>
              <a:buChar char="•"/>
            </a:pPr>
            <a:r>
              <a:rPr lang="en-US" sz="1900" dirty="0">
                <a:solidFill>
                  <a:srgbClr val="1F1F1F"/>
                </a:solidFill>
                <a:latin typeface="Times New Roman" pitchFamily="34" charset="0"/>
                <a:ea typeface="Times New Roman" pitchFamily="34" charset="-122"/>
                <a:cs typeface="Times New Roman" pitchFamily="34" charset="-120"/>
              </a:rPr>
              <a:t>Genres, keywords, overview, cast and director are merged into one “tags” field</a:t>
            </a:r>
            <a:endParaRPr lang="en-US" sz="1900" dirty="0"/>
          </a:p>
          <a:p>
            <a:pPr marL="228600" indent="-228600">
              <a:spcAft>
                <a:spcPts val="800"/>
              </a:spcAft>
              <a:buSzPct val="100000"/>
              <a:buChar char="•"/>
            </a:pPr>
            <a:r>
              <a:rPr lang="en-US" sz="1900" dirty="0">
                <a:solidFill>
                  <a:srgbClr val="1F1F1F"/>
                </a:solidFill>
                <a:latin typeface="Times New Roman" pitchFamily="34" charset="0"/>
                <a:ea typeface="Times New Roman" pitchFamily="34" charset="-122"/>
                <a:cs typeface="Times New Roman" pitchFamily="34" charset="-120"/>
              </a:rPr>
              <a:t>TF-IDF vectors + cosine similarity find related movies; no other users’ ratings needed</a:t>
            </a:r>
            <a:endParaRPr lang="en-US" sz="1900" dirty="0"/>
          </a:p>
          <a:p>
            <a:pPr marL="228600" indent="-228600">
              <a:spcAft>
                <a:spcPts val="800"/>
              </a:spcAft>
              <a:buSzPct val="100000"/>
              <a:buChar char="•"/>
            </a:pPr>
            <a:r>
              <a:rPr lang="en-US" sz="1900" dirty="0">
                <a:solidFill>
                  <a:srgbClr val="1F1F1F"/>
                </a:solidFill>
                <a:latin typeface="Times New Roman" pitchFamily="34" charset="0"/>
                <a:ea typeface="Times New Roman" pitchFamily="34" charset="-122"/>
                <a:cs typeface="Times New Roman" pitchFamily="34" charset="-120"/>
              </a:rPr>
              <a:t>TMDB API adds extra candidates; user preferences re-rank them</a:t>
            </a:r>
            <a:endParaRPr lang="en-US" sz="1900" dirty="0"/>
          </a:p>
        </p:txBody>
      </p:sp>
      <p:sp>
        <p:nvSpPr>
          <p:cNvPr id="6" name="Text 3"/>
          <p:cNvSpPr txBox="1"/>
          <p:nvPr/>
        </p:nvSpPr>
        <p:spPr>
          <a:xfrm>
            <a:off x="6492240" y="1371600"/>
            <a:ext cx="512064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What the system does</a:t>
            </a:r>
            <a:endParaRPr lang="en-US" sz="2000" dirty="0"/>
          </a:p>
        </p:txBody>
      </p:sp>
      <p:sp>
        <p:nvSpPr>
          <p:cNvPr id="7" name="Shape 4"/>
          <p:cNvSpPr/>
          <p:nvPr/>
        </p:nvSpPr>
        <p:spPr>
          <a:xfrm>
            <a:off x="6492240" y="1920240"/>
            <a:ext cx="777240" cy="777240"/>
          </a:xfrm>
          <a:prstGeom prst="ellipse">
            <a:avLst/>
          </a:prstGeom>
          <a:solidFill>
            <a:srgbClr val="1F2A5A"/>
          </a:solidFill>
          <a:ln w="12700">
            <a:solidFill>
              <a:srgbClr val="1F2A5A"/>
            </a:solidFill>
            <a:prstDash val="solid"/>
          </a:ln>
        </p:spPr>
      </p:sp>
      <p:pic>
        <p:nvPicPr>
          <p:cNvPr id="8" name="Image 0" descr="icons/LuSearch.png"/>
          <p:cNvPicPr>
            <a:picLocks noChangeAspect="1"/>
          </p:cNvPicPr>
          <p:nvPr/>
        </p:nvPicPr>
        <p:blipFill>
          <a:blip r:embed="rId3"/>
          <a:stretch>
            <a:fillRect/>
          </a:stretch>
        </p:blipFill>
        <p:spPr>
          <a:xfrm>
            <a:off x="6686550" y="2114550"/>
            <a:ext cx="388620" cy="388620"/>
          </a:xfrm>
          <a:prstGeom prst="rect">
            <a:avLst/>
          </a:prstGeom>
        </p:spPr>
      </p:pic>
      <p:sp>
        <p:nvSpPr>
          <p:cNvPr id="9" name="Text 5"/>
          <p:cNvSpPr txBox="1"/>
          <p:nvPr/>
        </p:nvSpPr>
        <p:spPr>
          <a:xfrm>
            <a:off x="7452360" y="1938528"/>
            <a:ext cx="4114800" cy="365760"/>
          </a:xfrm>
          <a:prstGeom prst="rect">
            <a:avLst/>
          </a:prstGeom>
          <a:noFill/>
          <a:ln/>
        </p:spPr>
        <p:txBody>
          <a:bodyPr wrap="square" lIns="0" tIns="0" rIns="0" bIns="0" rtlCol="0" anchor="t"/>
          <a:lstStyle/>
          <a:p>
            <a:pPr marL="0" indent="0">
              <a:buNone/>
            </a:pPr>
            <a:r>
              <a:rPr lang="en-US" sz="1800" b="1" dirty="0">
                <a:solidFill>
                  <a:srgbClr val="1F2A5A"/>
                </a:solidFill>
                <a:latin typeface="Times New Roman" pitchFamily="34" charset="0"/>
                <a:ea typeface="Times New Roman" pitchFamily="34" charset="-122"/>
                <a:cs typeface="Times New Roman" pitchFamily="34" charset="-120"/>
              </a:rPr>
              <a:t>Search</a:t>
            </a:r>
            <a:endParaRPr lang="en-US" sz="1800" dirty="0"/>
          </a:p>
        </p:txBody>
      </p:sp>
      <p:sp>
        <p:nvSpPr>
          <p:cNvPr id="10" name="Text 6"/>
          <p:cNvSpPr txBox="1"/>
          <p:nvPr/>
        </p:nvSpPr>
        <p:spPr>
          <a:xfrm>
            <a:off x="7452360" y="2304288"/>
            <a:ext cx="4114800" cy="365760"/>
          </a:xfrm>
          <a:prstGeom prst="rect">
            <a:avLst/>
          </a:prstGeom>
          <a:noFill/>
          <a:ln/>
        </p:spPr>
        <p:txBody>
          <a:bodyPr wrap="square" lIns="0" tIns="0" rIns="0" bIns="0" rtlCol="0" anchor="t"/>
          <a:lstStyle/>
          <a:p>
            <a:r>
              <a:rPr lang="en-IN" sz="1600" dirty="0"/>
              <a:t>Search for the movie title using TMDB.</a:t>
            </a:r>
            <a:endParaRPr lang="en-US" sz="1600" dirty="0"/>
          </a:p>
        </p:txBody>
      </p:sp>
      <p:sp>
        <p:nvSpPr>
          <p:cNvPr id="11" name="Shape 7"/>
          <p:cNvSpPr/>
          <p:nvPr/>
        </p:nvSpPr>
        <p:spPr>
          <a:xfrm>
            <a:off x="6492240" y="2944368"/>
            <a:ext cx="777240" cy="777240"/>
          </a:xfrm>
          <a:prstGeom prst="ellipse">
            <a:avLst/>
          </a:prstGeom>
          <a:solidFill>
            <a:srgbClr val="FF6600"/>
          </a:solidFill>
          <a:ln w="12700">
            <a:solidFill>
              <a:srgbClr val="FF6600"/>
            </a:solidFill>
            <a:prstDash val="solid"/>
          </a:ln>
        </p:spPr>
      </p:sp>
      <p:pic>
        <p:nvPicPr>
          <p:cNvPr id="12" name="Image 1" descr="icons/LuGitCompare.png"/>
          <p:cNvPicPr>
            <a:picLocks noChangeAspect="1"/>
          </p:cNvPicPr>
          <p:nvPr/>
        </p:nvPicPr>
        <p:blipFill>
          <a:blip r:embed="rId4"/>
          <a:stretch>
            <a:fillRect/>
          </a:stretch>
        </p:blipFill>
        <p:spPr>
          <a:xfrm>
            <a:off x="6686550" y="3138678"/>
            <a:ext cx="388620" cy="388620"/>
          </a:xfrm>
          <a:prstGeom prst="rect">
            <a:avLst/>
          </a:prstGeom>
        </p:spPr>
      </p:pic>
      <p:sp>
        <p:nvSpPr>
          <p:cNvPr id="13" name="Text 8"/>
          <p:cNvSpPr txBox="1"/>
          <p:nvPr/>
        </p:nvSpPr>
        <p:spPr>
          <a:xfrm>
            <a:off x="7452360" y="2962656"/>
            <a:ext cx="4114800" cy="365760"/>
          </a:xfrm>
          <a:prstGeom prst="rect">
            <a:avLst/>
          </a:prstGeom>
          <a:noFill/>
          <a:ln/>
        </p:spPr>
        <p:txBody>
          <a:bodyPr wrap="square" lIns="0" tIns="0" rIns="0" bIns="0" rtlCol="0" anchor="t"/>
          <a:lstStyle/>
          <a:p>
            <a:pPr marL="0" indent="0">
              <a:buNone/>
            </a:pPr>
            <a:r>
              <a:rPr lang="en-US" sz="1800" b="1" dirty="0">
                <a:solidFill>
                  <a:srgbClr val="1F2A5A"/>
                </a:solidFill>
                <a:latin typeface="Times New Roman" pitchFamily="34" charset="0"/>
                <a:ea typeface="Times New Roman" pitchFamily="34" charset="-122"/>
                <a:cs typeface="Times New Roman" pitchFamily="34" charset="-120"/>
              </a:rPr>
              <a:t>Match</a:t>
            </a:r>
            <a:endParaRPr lang="en-US" sz="1800" dirty="0"/>
          </a:p>
        </p:txBody>
      </p:sp>
      <p:sp>
        <p:nvSpPr>
          <p:cNvPr id="14" name="Text 9"/>
          <p:cNvSpPr txBox="1"/>
          <p:nvPr/>
        </p:nvSpPr>
        <p:spPr>
          <a:xfrm>
            <a:off x="7452360" y="3328416"/>
            <a:ext cx="4114800" cy="365760"/>
          </a:xfrm>
          <a:prstGeom prst="rect">
            <a:avLst/>
          </a:prstGeom>
          <a:noFill/>
          <a:ln/>
        </p:spPr>
        <p:txBody>
          <a:bodyPr wrap="square" lIns="0" tIns="0" rIns="0" bIns="0" rtlCol="0" anchor="t"/>
          <a:lstStyle/>
          <a:p>
            <a:r>
              <a:rPr lang="en-IN" sz="1600" dirty="0"/>
              <a:t>TF-IDF and cosine similarity to find similar movies in the local dataset</a:t>
            </a:r>
            <a:endParaRPr lang="en-US" sz="1600" dirty="0"/>
          </a:p>
        </p:txBody>
      </p:sp>
      <p:sp>
        <p:nvSpPr>
          <p:cNvPr id="15" name="Shape 10"/>
          <p:cNvSpPr/>
          <p:nvPr/>
        </p:nvSpPr>
        <p:spPr>
          <a:xfrm>
            <a:off x="6492240" y="3968496"/>
            <a:ext cx="777240" cy="777240"/>
          </a:xfrm>
          <a:prstGeom prst="ellipse">
            <a:avLst/>
          </a:prstGeom>
          <a:solidFill>
            <a:srgbClr val="1F2A5A"/>
          </a:solidFill>
          <a:ln w="12700">
            <a:solidFill>
              <a:srgbClr val="1F2A5A"/>
            </a:solidFill>
            <a:prstDash val="solid"/>
          </a:ln>
        </p:spPr>
      </p:sp>
      <p:pic>
        <p:nvPicPr>
          <p:cNvPr id="16" name="Image 2" descr="icons/LuSlidersHorizontal.png"/>
          <p:cNvPicPr>
            <a:picLocks noChangeAspect="1"/>
          </p:cNvPicPr>
          <p:nvPr/>
        </p:nvPicPr>
        <p:blipFill>
          <a:blip r:embed="rId5"/>
          <a:stretch>
            <a:fillRect/>
          </a:stretch>
        </p:blipFill>
        <p:spPr>
          <a:xfrm>
            <a:off x="6686550" y="4162806"/>
            <a:ext cx="388620" cy="388620"/>
          </a:xfrm>
          <a:prstGeom prst="rect">
            <a:avLst/>
          </a:prstGeom>
        </p:spPr>
      </p:pic>
      <p:sp>
        <p:nvSpPr>
          <p:cNvPr id="17" name="Text 11"/>
          <p:cNvSpPr txBox="1"/>
          <p:nvPr/>
        </p:nvSpPr>
        <p:spPr>
          <a:xfrm>
            <a:off x="7452360" y="3986784"/>
            <a:ext cx="4114800" cy="365760"/>
          </a:xfrm>
          <a:prstGeom prst="rect">
            <a:avLst/>
          </a:prstGeom>
          <a:noFill/>
          <a:ln/>
        </p:spPr>
        <p:txBody>
          <a:bodyPr wrap="square" lIns="0" tIns="0" rIns="0" bIns="0" rtlCol="0" anchor="t"/>
          <a:lstStyle/>
          <a:p>
            <a:pPr marL="0" indent="0">
              <a:buNone/>
            </a:pPr>
            <a:r>
              <a:rPr lang="en-US" sz="1800" b="1" dirty="0">
                <a:solidFill>
                  <a:srgbClr val="1F2A5A"/>
                </a:solidFill>
                <a:latin typeface="Times New Roman" pitchFamily="34" charset="0"/>
                <a:ea typeface="Times New Roman" pitchFamily="34" charset="-122"/>
                <a:cs typeface="Times New Roman" pitchFamily="34" charset="-120"/>
              </a:rPr>
              <a:t>Personalize</a:t>
            </a:r>
            <a:endParaRPr lang="en-US" sz="1800" dirty="0"/>
          </a:p>
        </p:txBody>
      </p:sp>
      <p:sp>
        <p:nvSpPr>
          <p:cNvPr id="18" name="Text 12"/>
          <p:cNvSpPr txBox="1"/>
          <p:nvPr/>
        </p:nvSpPr>
        <p:spPr>
          <a:xfrm>
            <a:off x="7452360" y="4352544"/>
            <a:ext cx="4114800" cy="365760"/>
          </a:xfrm>
          <a:prstGeom prst="rect">
            <a:avLst/>
          </a:prstGeom>
          <a:noFill/>
          <a:ln/>
        </p:spPr>
        <p:txBody>
          <a:bodyPr wrap="square" lIns="0" tIns="0" rIns="0" bIns="0" rtlCol="0" anchor="t"/>
          <a:lstStyle/>
          <a:p>
            <a:r>
              <a:rPr lang="en-IN" sz="1600" dirty="0"/>
              <a:t>Consider mood, language, minimum rating, and runtime</a:t>
            </a:r>
            <a:endParaRPr lang="en-US" sz="1600" dirty="0"/>
          </a:p>
        </p:txBody>
      </p:sp>
      <p:sp>
        <p:nvSpPr>
          <p:cNvPr id="19" name="Shape 13"/>
          <p:cNvSpPr/>
          <p:nvPr/>
        </p:nvSpPr>
        <p:spPr>
          <a:xfrm>
            <a:off x="6492240" y="4992624"/>
            <a:ext cx="777240" cy="777240"/>
          </a:xfrm>
          <a:prstGeom prst="ellipse">
            <a:avLst/>
          </a:prstGeom>
          <a:solidFill>
            <a:srgbClr val="FF6600"/>
          </a:solidFill>
          <a:ln w="12700">
            <a:solidFill>
              <a:srgbClr val="FF6600"/>
            </a:solidFill>
            <a:prstDash val="solid"/>
          </a:ln>
        </p:spPr>
      </p:sp>
      <p:pic>
        <p:nvPicPr>
          <p:cNvPr id="20" name="Image 3" descr="icons/LuLightbulb.png"/>
          <p:cNvPicPr>
            <a:picLocks noChangeAspect="1"/>
          </p:cNvPicPr>
          <p:nvPr/>
        </p:nvPicPr>
        <p:blipFill>
          <a:blip r:embed="rId6"/>
          <a:stretch>
            <a:fillRect/>
          </a:stretch>
        </p:blipFill>
        <p:spPr>
          <a:xfrm>
            <a:off x="6686550" y="5186934"/>
            <a:ext cx="388620" cy="388620"/>
          </a:xfrm>
          <a:prstGeom prst="rect">
            <a:avLst/>
          </a:prstGeom>
        </p:spPr>
      </p:pic>
      <p:sp>
        <p:nvSpPr>
          <p:cNvPr id="21" name="Text 14"/>
          <p:cNvSpPr txBox="1"/>
          <p:nvPr/>
        </p:nvSpPr>
        <p:spPr>
          <a:xfrm>
            <a:off x="7452360" y="5010912"/>
            <a:ext cx="4114800" cy="365760"/>
          </a:xfrm>
          <a:prstGeom prst="rect">
            <a:avLst/>
          </a:prstGeom>
          <a:noFill/>
          <a:ln/>
        </p:spPr>
        <p:txBody>
          <a:bodyPr wrap="square" lIns="0" tIns="0" rIns="0" bIns="0" rtlCol="0" anchor="t"/>
          <a:lstStyle/>
          <a:p>
            <a:pPr marL="0" indent="0">
              <a:buNone/>
            </a:pPr>
            <a:r>
              <a:rPr lang="en-US" sz="1800" b="1" dirty="0">
                <a:solidFill>
                  <a:srgbClr val="1F2A5A"/>
                </a:solidFill>
                <a:latin typeface="Times New Roman" pitchFamily="34" charset="0"/>
                <a:ea typeface="Times New Roman" pitchFamily="34" charset="-122"/>
                <a:cs typeface="Times New Roman" pitchFamily="34" charset="-120"/>
              </a:rPr>
              <a:t>Explain</a:t>
            </a:r>
            <a:endParaRPr lang="en-US" sz="1800" dirty="0"/>
          </a:p>
        </p:txBody>
      </p:sp>
      <p:sp>
        <p:nvSpPr>
          <p:cNvPr id="22" name="Text 15"/>
          <p:cNvSpPr txBox="1"/>
          <p:nvPr/>
        </p:nvSpPr>
        <p:spPr>
          <a:xfrm>
            <a:off x="7452360" y="5376672"/>
            <a:ext cx="4114800" cy="365760"/>
          </a:xfrm>
          <a:prstGeom prst="rect">
            <a:avLst/>
          </a:prstGeom>
          <a:noFill/>
          <a:ln/>
        </p:spPr>
        <p:txBody>
          <a:bodyPr wrap="square" lIns="0" tIns="0" rIns="0" bIns="0" rtlCol="0" anchor="t"/>
          <a:lstStyle/>
          <a:p>
            <a:pPr marL="0" indent="0">
              <a:buNone/>
            </a:pPr>
            <a:r>
              <a:rPr lang="en-US" sz="1600" dirty="0">
                <a:solidFill>
                  <a:srgbClr val="4A4A4A"/>
                </a:solidFill>
                <a:latin typeface="Times New Roman" pitchFamily="34" charset="0"/>
                <a:ea typeface="Times New Roman" pitchFamily="34" charset="-122"/>
                <a:cs typeface="Times New Roman" pitchFamily="34" charset="-120"/>
              </a:rPr>
              <a:t>“Why this movie?” for each pick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Problem Statement</a:t>
            </a:r>
            <a:endParaRPr lang="en-US" sz="3200" dirty="0"/>
          </a:p>
        </p:txBody>
      </p:sp>
      <p:sp>
        <p:nvSpPr>
          <p:cNvPr id="4" name="Shape 1"/>
          <p:cNvSpPr/>
          <p:nvPr/>
        </p:nvSpPr>
        <p:spPr>
          <a:xfrm>
            <a:off x="548640" y="1463040"/>
            <a:ext cx="5440680" cy="2240280"/>
          </a:xfrm>
          <a:prstGeom prst="roundRect">
            <a:avLst>
              <a:gd name="adj" fmla="val 408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5" name="Shape 2"/>
          <p:cNvSpPr/>
          <p:nvPr/>
        </p:nvSpPr>
        <p:spPr>
          <a:xfrm>
            <a:off x="822960" y="1737360"/>
            <a:ext cx="777240" cy="777240"/>
          </a:xfrm>
          <a:prstGeom prst="ellipse">
            <a:avLst/>
          </a:prstGeom>
          <a:solidFill>
            <a:srgbClr val="1F2A5A"/>
          </a:solidFill>
          <a:ln w="12700">
            <a:solidFill>
              <a:srgbClr val="1F2A5A"/>
            </a:solidFill>
            <a:prstDash val="solid"/>
          </a:ln>
        </p:spPr>
      </p:sp>
      <p:pic>
        <p:nvPicPr>
          <p:cNvPr id="6" name="Image 0" descr="icons/LuSearch.png"/>
          <p:cNvPicPr>
            <a:picLocks noChangeAspect="1"/>
          </p:cNvPicPr>
          <p:nvPr/>
        </p:nvPicPr>
        <p:blipFill>
          <a:blip r:embed="rId3"/>
          <a:stretch>
            <a:fillRect/>
          </a:stretch>
        </p:blipFill>
        <p:spPr>
          <a:xfrm>
            <a:off x="1017270" y="1931670"/>
            <a:ext cx="388620" cy="388620"/>
          </a:xfrm>
          <a:prstGeom prst="rect">
            <a:avLst/>
          </a:prstGeom>
        </p:spPr>
      </p:pic>
      <p:sp>
        <p:nvSpPr>
          <p:cNvPr id="7" name="Text 3"/>
          <p:cNvSpPr txBox="1"/>
          <p:nvPr/>
        </p:nvSpPr>
        <p:spPr>
          <a:xfrm>
            <a:off x="1828800" y="1828800"/>
            <a:ext cx="3931920" cy="548640"/>
          </a:xfrm>
          <a:prstGeom prst="rect">
            <a:avLst/>
          </a:prstGeom>
          <a:noFill/>
          <a:ln/>
        </p:spPr>
        <p:txBody>
          <a:bodyPr wrap="square" lIns="0" tIns="0" rIns="0" bIns="0" rtlCol="0" anchor="ctr"/>
          <a:lstStyle/>
          <a:p>
            <a:pPr marL="0" indent="0">
              <a:buNone/>
            </a:pPr>
            <a:r>
              <a:rPr lang="en-US" sz="2200" b="1" dirty="0">
                <a:solidFill>
                  <a:srgbClr val="1F2A5A"/>
                </a:solidFill>
                <a:latin typeface="Times New Roman" pitchFamily="34" charset="0"/>
                <a:ea typeface="Times New Roman" pitchFamily="34" charset="-122"/>
                <a:cs typeface="Times New Roman" pitchFamily="34" charset="-120"/>
              </a:rPr>
              <a:t>Too many choices</a:t>
            </a:r>
            <a:endParaRPr lang="en-US" sz="2200" dirty="0"/>
          </a:p>
        </p:txBody>
      </p:sp>
      <p:sp>
        <p:nvSpPr>
          <p:cNvPr id="8" name="Text 4"/>
          <p:cNvSpPr txBox="1"/>
          <p:nvPr/>
        </p:nvSpPr>
        <p:spPr>
          <a:xfrm>
            <a:off x="822960" y="2743200"/>
            <a:ext cx="4892040" cy="822960"/>
          </a:xfrm>
          <a:prstGeom prst="rect">
            <a:avLst/>
          </a:prstGeom>
          <a:noFill/>
          <a:ln/>
        </p:spPr>
        <p:txBody>
          <a:bodyPr wrap="square" lIns="0" tIns="0" rIns="0" bIns="0" rtlCol="0" anchor="t"/>
          <a:lstStyle/>
          <a:p>
            <a:pPr marL="0" indent="0">
              <a:buNone/>
            </a:pPr>
            <a:r>
              <a:rPr lang="en-US" sz="1700" dirty="0">
                <a:solidFill>
                  <a:srgbClr val="1F1F1F"/>
                </a:solidFill>
                <a:latin typeface="Times New Roman" pitchFamily="34" charset="0"/>
                <a:ea typeface="Times New Roman" pitchFamily="34" charset="-122"/>
                <a:cs typeface="Times New Roman" pitchFamily="34" charset="-120"/>
              </a:rPr>
              <a:t>Thousands of titles across many genres and languages make manual browsing slow.</a:t>
            </a:r>
            <a:endParaRPr lang="en-US" sz="1700" dirty="0"/>
          </a:p>
        </p:txBody>
      </p:sp>
      <p:sp>
        <p:nvSpPr>
          <p:cNvPr id="9" name="Shape 5"/>
          <p:cNvSpPr/>
          <p:nvPr/>
        </p:nvSpPr>
        <p:spPr>
          <a:xfrm>
            <a:off x="6172200" y="1463040"/>
            <a:ext cx="5440680" cy="2240280"/>
          </a:xfrm>
          <a:prstGeom prst="roundRect">
            <a:avLst>
              <a:gd name="adj" fmla="val 408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0" name="Shape 6"/>
          <p:cNvSpPr/>
          <p:nvPr/>
        </p:nvSpPr>
        <p:spPr>
          <a:xfrm>
            <a:off x="6446520" y="1737360"/>
            <a:ext cx="777240" cy="777240"/>
          </a:xfrm>
          <a:prstGeom prst="ellipse">
            <a:avLst/>
          </a:prstGeom>
          <a:solidFill>
            <a:srgbClr val="FF6600"/>
          </a:solidFill>
          <a:ln w="12700">
            <a:solidFill>
              <a:srgbClr val="FF6600"/>
            </a:solidFill>
            <a:prstDash val="solid"/>
          </a:ln>
        </p:spPr>
      </p:sp>
      <p:pic>
        <p:nvPicPr>
          <p:cNvPr id="11" name="Image 1" descr="icons/LuGitCompare.png"/>
          <p:cNvPicPr>
            <a:picLocks noChangeAspect="1"/>
          </p:cNvPicPr>
          <p:nvPr/>
        </p:nvPicPr>
        <p:blipFill>
          <a:blip r:embed="rId4"/>
          <a:stretch>
            <a:fillRect/>
          </a:stretch>
        </p:blipFill>
        <p:spPr>
          <a:xfrm>
            <a:off x="6640830" y="1931670"/>
            <a:ext cx="388620" cy="388620"/>
          </a:xfrm>
          <a:prstGeom prst="rect">
            <a:avLst/>
          </a:prstGeom>
        </p:spPr>
      </p:pic>
      <p:sp>
        <p:nvSpPr>
          <p:cNvPr id="12" name="Text 7"/>
          <p:cNvSpPr txBox="1"/>
          <p:nvPr/>
        </p:nvSpPr>
        <p:spPr>
          <a:xfrm>
            <a:off x="7452360" y="1828800"/>
            <a:ext cx="3931920" cy="548640"/>
          </a:xfrm>
          <a:prstGeom prst="rect">
            <a:avLst/>
          </a:prstGeom>
          <a:noFill/>
          <a:ln/>
        </p:spPr>
        <p:txBody>
          <a:bodyPr wrap="square" lIns="0" tIns="0" rIns="0" bIns="0" rtlCol="0" anchor="ctr"/>
          <a:lstStyle/>
          <a:p>
            <a:pPr marL="0" indent="0">
              <a:buNone/>
            </a:pPr>
            <a:r>
              <a:rPr lang="en-US" sz="2200" b="1" dirty="0">
                <a:solidFill>
                  <a:srgbClr val="1F2A5A"/>
                </a:solidFill>
                <a:latin typeface="Times New Roman" pitchFamily="34" charset="0"/>
                <a:ea typeface="Times New Roman" pitchFamily="34" charset="-122"/>
                <a:cs typeface="Times New Roman" pitchFamily="34" charset="-120"/>
              </a:rPr>
              <a:t>Shallow matching</a:t>
            </a:r>
            <a:endParaRPr lang="en-US" sz="2200" dirty="0"/>
          </a:p>
        </p:txBody>
      </p:sp>
      <p:sp>
        <p:nvSpPr>
          <p:cNvPr id="13" name="Text 8"/>
          <p:cNvSpPr txBox="1"/>
          <p:nvPr/>
        </p:nvSpPr>
        <p:spPr>
          <a:xfrm>
            <a:off x="6446520" y="2743200"/>
            <a:ext cx="4892040" cy="822960"/>
          </a:xfrm>
          <a:prstGeom prst="rect">
            <a:avLst/>
          </a:prstGeom>
          <a:noFill/>
          <a:ln/>
        </p:spPr>
        <p:txBody>
          <a:bodyPr wrap="square" lIns="0" tIns="0" rIns="0" bIns="0" rtlCol="0" anchor="t"/>
          <a:lstStyle/>
          <a:p>
            <a:pPr marL="0" indent="0">
              <a:buNone/>
            </a:pPr>
            <a:r>
              <a:rPr lang="en-US" sz="1700" dirty="0">
                <a:solidFill>
                  <a:srgbClr val="1F1F1F"/>
                </a:solidFill>
                <a:latin typeface="Times New Roman" pitchFamily="34" charset="0"/>
                <a:ea typeface="Times New Roman" pitchFamily="34" charset="-122"/>
                <a:cs typeface="Times New Roman" pitchFamily="34" charset="-120"/>
              </a:rPr>
              <a:t>Title or genre search misses similar plots, keywords, cast and directors.</a:t>
            </a:r>
            <a:endParaRPr lang="en-US" sz="1700" dirty="0"/>
          </a:p>
        </p:txBody>
      </p:sp>
      <p:sp>
        <p:nvSpPr>
          <p:cNvPr id="14" name="Shape 9"/>
          <p:cNvSpPr/>
          <p:nvPr/>
        </p:nvSpPr>
        <p:spPr>
          <a:xfrm>
            <a:off x="548640" y="3931920"/>
            <a:ext cx="5440680" cy="2240280"/>
          </a:xfrm>
          <a:prstGeom prst="roundRect">
            <a:avLst>
              <a:gd name="adj" fmla="val 408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5" name="Shape 10"/>
          <p:cNvSpPr/>
          <p:nvPr/>
        </p:nvSpPr>
        <p:spPr>
          <a:xfrm>
            <a:off x="822960" y="4206240"/>
            <a:ext cx="777240" cy="777240"/>
          </a:xfrm>
          <a:prstGeom prst="ellipse">
            <a:avLst/>
          </a:prstGeom>
          <a:solidFill>
            <a:srgbClr val="FF6600"/>
          </a:solidFill>
          <a:ln w="12700">
            <a:solidFill>
              <a:srgbClr val="FF6600"/>
            </a:solidFill>
            <a:prstDash val="solid"/>
          </a:ln>
        </p:spPr>
      </p:sp>
      <p:pic>
        <p:nvPicPr>
          <p:cNvPr id="16" name="Image 2" descr="icons/LuSlidersHorizontal.png"/>
          <p:cNvPicPr>
            <a:picLocks noChangeAspect="1"/>
          </p:cNvPicPr>
          <p:nvPr/>
        </p:nvPicPr>
        <p:blipFill>
          <a:blip r:embed="rId5"/>
          <a:stretch>
            <a:fillRect/>
          </a:stretch>
        </p:blipFill>
        <p:spPr>
          <a:xfrm>
            <a:off x="1017270" y="4400550"/>
            <a:ext cx="388620" cy="388620"/>
          </a:xfrm>
          <a:prstGeom prst="rect">
            <a:avLst/>
          </a:prstGeom>
        </p:spPr>
      </p:pic>
      <p:sp>
        <p:nvSpPr>
          <p:cNvPr id="17" name="Text 11"/>
          <p:cNvSpPr txBox="1"/>
          <p:nvPr/>
        </p:nvSpPr>
        <p:spPr>
          <a:xfrm>
            <a:off x="1828800" y="4297680"/>
            <a:ext cx="3931920" cy="548640"/>
          </a:xfrm>
          <a:prstGeom prst="rect">
            <a:avLst/>
          </a:prstGeom>
          <a:noFill/>
          <a:ln/>
        </p:spPr>
        <p:txBody>
          <a:bodyPr wrap="square" lIns="0" tIns="0" rIns="0" bIns="0" rtlCol="0" anchor="ctr"/>
          <a:lstStyle/>
          <a:p>
            <a:pPr marL="0" indent="0">
              <a:buNone/>
            </a:pPr>
            <a:r>
              <a:rPr lang="en-US" sz="2200" b="1" dirty="0">
                <a:solidFill>
                  <a:srgbClr val="1F2A5A"/>
                </a:solidFill>
                <a:latin typeface="Times New Roman" pitchFamily="34" charset="0"/>
                <a:ea typeface="Times New Roman" pitchFamily="34" charset="-122"/>
                <a:cs typeface="Times New Roman" pitchFamily="34" charset="-120"/>
              </a:rPr>
              <a:t>Context ignored</a:t>
            </a:r>
            <a:endParaRPr lang="en-US" sz="2200" dirty="0"/>
          </a:p>
        </p:txBody>
      </p:sp>
      <p:sp>
        <p:nvSpPr>
          <p:cNvPr id="18" name="Text 12"/>
          <p:cNvSpPr txBox="1"/>
          <p:nvPr/>
        </p:nvSpPr>
        <p:spPr>
          <a:xfrm>
            <a:off x="822960" y="5212080"/>
            <a:ext cx="4892040" cy="822960"/>
          </a:xfrm>
          <a:prstGeom prst="rect">
            <a:avLst/>
          </a:prstGeom>
          <a:noFill/>
          <a:ln/>
        </p:spPr>
        <p:txBody>
          <a:bodyPr wrap="square" lIns="0" tIns="0" rIns="0" bIns="0" rtlCol="0" anchor="t"/>
          <a:lstStyle/>
          <a:p>
            <a:pPr marL="0" indent="0">
              <a:buNone/>
            </a:pPr>
            <a:r>
              <a:rPr lang="en-US" sz="1700" dirty="0">
                <a:solidFill>
                  <a:srgbClr val="1F1F1F"/>
                </a:solidFill>
                <a:latin typeface="Times New Roman" pitchFamily="34" charset="0"/>
                <a:ea typeface="Times New Roman" pitchFamily="34" charset="-122"/>
                <a:cs typeface="Times New Roman" pitchFamily="34" charset="-120"/>
              </a:rPr>
              <a:t>General lists ignore mood, language, runtime and minimum rating.</a:t>
            </a:r>
            <a:endParaRPr lang="en-US" sz="1700" dirty="0"/>
          </a:p>
        </p:txBody>
      </p:sp>
      <p:sp>
        <p:nvSpPr>
          <p:cNvPr id="19" name="Shape 13"/>
          <p:cNvSpPr/>
          <p:nvPr/>
        </p:nvSpPr>
        <p:spPr>
          <a:xfrm>
            <a:off x="6172200" y="3931920"/>
            <a:ext cx="5440680" cy="2240280"/>
          </a:xfrm>
          <a:prstGeom prst="roundRect">
            <a:avLst>
              <a:gd name="adj" fmla="val 408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20" name="Shape 14"/>
          <p:cNvSpPr/>
          <p:nvPr/>
        </p:nvSpPr>
        <p:spPr>
          <a:xfrm>
            <a:off x="6446520" y="4206240"/>
            <a:ext cx="777240" cy="777240"/>
          </a:xfrm>
          <a:prstGeom prst="ellipse">
            <a:avLst/>
          </a:prstGeom>
          <a:solidFill>
            <a:srgbClr val="1F2A5A"/>
          </a:solidFill>
          <a:ln w="12700">
            <a:solidFill>
              <a:srgbClr val="1F2A5A"/>
            </a:solidFill>
            <a:prstDash val="solid"/>
          </a:ln>
        </p:spPr>
      </p:sp>
      <p:pic>
        <p:nvPicPr>
          <p:cNvPr id="21" name="Image 3" descr="icons/LuLightbulb.png"/>
          <p:cNvPicPr>
            <a:picLocks noChangeAspect="1"/>
          </p:cNvPicPr>
          <p:nvPr/>
        </p:nvPicPr>
        <p:blipFill>
          <a:blip r:embed="rId6"/>
          <a:stretch>
            <a:fillRect/>
          </a:stretch>
        </p:blipFill>
        <p:spPr>
          <a:xfrm>
            <a:off x="6640830" y="4400550"/>
            <a:ext cx="388620" cy="388620"/>
          </a:xfrm>
          <a:prstGeom prst="rect">
            <a:avLst/>
          </a:prstGeom>
        </p:spPr>
      </p:pic>
      <p:sp>
        <p:nvSpPr>
          <p:cNvPr id="22" name="Text 15"/>
          <p:cNvSpPr txBox="1"/>
          <p:nvPr/>
        </p:nvSpPr>
        <p:spPr>
          <a:xfrm>
            <a:off x="7452360" y="4297680"/>
            <a:ext cx="3931920" cy="548640"/>
          </a:xfrm>
          <a:prstGeom prst="rect">
            <a:avLst/>
          </a:prstGeom>
          <a:noFill/>
          <a:ln/>
        </p:spPr>
        <p:txBody>
          <a:bodyPr wrap="square" lIns="0" tIns="0" rIns="0" bIns="0" rtlCol="0" anchor="ctr"/>
          <a:lstStyle/>
          <a:p>
            <a:pPr marL="0" indent="0">
              <a:buNone/>
            </a:pPr>
            <a:r>
              <a:rPr lang="en-US" sz="2200" b="1" dirty="0">
                <a:solidFill>
                  <a:srgbClr val="1F2A5A"/>
                </a:solidFill>
                <a:latin typeface="Times New Roman" pitchFamily="34" charset="0"/>
                <a:ea typeface="Times New Roman" pitchFamily="34" charset="-122"/>
                <a:cs typeface="Times New Roman" pitchFamily="34" charset="-120"/>
              </a:rPr>
              <a:t>Unexplained results</a:t>
            </a:r>
            <a:endParaRPr lang="en-US" sz="2200" dirty="0"/>
          </a:p>
        </p:txBody>
      </p:sp>
      <p:sp>
        <p:nvSpPr>
          <p:cNvPr id="23" name="Text 16"/>
          <p:cNvSpPr txBox="1"/>
          <p:nvPr/>
        </p:nvSpPr>
        <p:spPr>
          <a:xfrm>
            <a:off x="6446520" y="5212080"/>
            <a:ext cx="4892040" cy="822960"/>
          </a:xfrm>
          <a:prstGeom prst="rect">
            <a:avLst/>
          </a:prstGeom>
          <a:noFill/>
          <a:ln/>
        </p:spPr>
        <p:txBody>
          <a:bodyPr wrap="square" lIns="0" tIns="0" rIns="0" bIns="0" rtlCol="0" anchor="t"/>
          <a:lstStyle/>
          <a:p>
            <a:pPr marL="0" indent="0">
              <a:buNone/>
            </a:pPr>
            <a:r>
              <a:rPr lang="en-US" sz="1700" dirty="0">
                <a:solidFill>
                  <a:srgbClr val="1F1F1F"/>
                </a:solidFill>
                <a:latin typeface="Times New Roman" pitchFamily="34" charset="0"/>
                <a:ea typeface="Times New Roman" pitchFamily="34" charset="-122"/>
                <a:cs typeface="Times New Roman" pitchFamily="34" charset="-120"/>
              </a:rPr>
              <a:t>Users rarely see why a movie was suggested, which lowers trust.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Objectives and Scope of the Project</a:t>
            </a:r>
            <a:endParaRPr lang="en-US" sz="3200" dirty="0"/>
          </a:p>
        </p:txBody>
      </p:sp>
      <p:sp>
        <p:nvSpPr>
          <p:cNvPr id="4" name="Shape 1"/>
          <p:cNvSpPr/>
          <p:nvPr/>
        </p:nvSpPr>
        <p:spPr>
          <a:xfrm>
            <a:off x="548640" y="1417320"/>
            <a:ext cx="5486400" cy="4480560"/>
          </a:xfrm>
          <a:prstGeom prst="roundRect">
            <a:avLst>
              <a:gd name="adj" fmla="val 2041"/>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5" name="Shape 2"/>
          <p:cNvSpPr/>
          <p:nvPr/>
        </p:nvSpPr>
        <p:spPr>
          <a:xfrm>
            <a:off x="6172200" y="1417320"/>
            <a:ext cx="5486400" cy="4480560"/>
          </a:xfrm>
          <a:prstGeom prst="roundRect">
            <a:avLst>
              <a:gd name="adj" fmla="val 2041"/>
            </a:avLst>
          </a:prstGeom>
          <a:solidFill>
            <a:srgbClr val="FFF0E5"/>
          </a:solidFill>
          <a:ln w="9525">
            <a:solidFill>
              <a:srgbClr val="D0D7E2"/>
            </a:solidFill>
            <a:prstDash val="solid"/>
          </a:ln>
          <a:effectLst>
            <a:outerShdw blurRad="76200" dist="25400" dir="5400000" algn="bl" rotWithShape="0">
              <a:srgbClr val="000000">
                <a:alpha val="12000"/>
              </a:srgbClr>
            </a:outerShdw>
          </a:effectLst>
        </p:spPr>
      </p:sp>
      <p:sp>
        <p:nvSpPr>
          <p:cNvPr id="6" name="Text 3"/>
          <p:cNvSpPr txBox="1"/>
          <p:nvPr/>
        </p:nvSpPr>
        <p:spPr>
          <a:xfrm>
            <a:off x="822960" y="1600200"/>
            <a:ext cx="493776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Objectives</a:t>
            </a:r>
            <a:endParaRPr lang="en-US" sz="2000" dirty="0"/>
          </a:p>
        </p:txBody>
      </p:sp>
      <p:sp>
        <p:nvSpPr>
          <p:cNvPr id="7" name="Text 4"/>
          <p:cNvSpPr txBox="1"/>
          <p:nvPr/>
        </p:nvSpPr>
        <p:spPr>
          <a:xfrm>
            <a:off x="822960" y="2103120"/>
            <a:ext cx="5029200" cy="365760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rgbClr val="1F1F1F"/>
                </a:solidFill>
                <a:latin typeface="Times New Roman" pitchFamily="34" charset="0"/>
                <a:ea typeface="Times New Roman" pitchFamily="34" charset="-122"/>
                <a:cs typeface="Times New Roman" pitchFamily="34" charset="-120"/>
              </a:rPr>
              <a:t>Prepare a clean movie dataset with TF-IDF features</a:t>
            </a:r>
            <a:endParaRPr lang="en-US" sz="1600" dirty="0"/>
          </a:p>
          <a:p>
            <a:pPr marL="228600" indent="-228600">
              <a:spcAft>
                <a:spcPts val="800"/>
              </a:spcAft>
              <a:buSzPct val="100000"/>
              <a:buChar char="•"/>
            </a:pPr>
            <a:r>
              <a:rPr lang="en-US" sz="1900" dirty="0">
                <a:solidFill>
                  <a:srgbClr val="1F1F1F"/>
                </a:solidFill>
                <a:latin typeface="Times New Roman" pitchFamily="34" charset="0"/>
                <a:ea typeface="Times New Roman" pitchFamily="34" charset="-122"/>
                <a:cs typeface="Times New Roman" pitchFamily="34" charset="-120"/>
              </a:rPr>
              <a:t>Find similar movies using cosine similarity</a:t>
            </a:r>
            <a:endParaRPr lang="en-US" sz="1600" dirty="0"/>
          </a:p>
          <a:p>
            <a:pPr marL="228600" indent="-228600">
              <a:spcAft>
                <a:spcPts val="800"/>
              </a:spcAft>
              <a:buSzPct val="100000"/>
              <a:buChar char="•"/>
            </a:pPr>
            <a:r>
              <a:rPr lang="en-US" sz="1900" dirty="0">
                <a:solidFill>
                  <a:srgbClr val="1F1F1F"/>
                </a:solidFill>
                <a:latin typeface="Times New Roman" pitchFamily="34" charset="0"/>
                <a:ea typeface="Times New Roman" pitchFamily="34" charset="-122"/>
                <a:cs typeface="Times New Roman" pitchFamily="34" charset="-120"/>
              </a:rPr>
              <a:t>Add TMDB search and similar-movie candidates</a:t>
            </a:r>
            <a:endParaRPr lang="en-US" sz="1600" dirty="0"/>
          </a:p>
          <a:p>
            <a:pPr marL="228600" indent="-228600">
              <a:spcAft>
                <a:spcPts val="800"/>
              </a:spcAft>
              <a:buSzPct val="100000"/>
              <a:buChar char="•"/>
            </a:pPr>
            <a:r>
              <a:rPr lang="en-US" sz="1900" dirty="0">
                <a:solidFill>
                  <a:srgbClr val="1F1F1F"/>
                </a:solidFill>
                <a:latin typeface="Times New Roman" pitchFamily="34" charset="0"/>
                <a:ea typeface="Times New Roman" pitchFamily="34" charset="-122"/>
                <a:cs typeface="Times New Roman" pitchFamily="34" charset="-120"/>
              </a:rPr>
              <a:t>Rank by mood, language, rating and runtime</a:t>
            </a:r>
            <a:endParaRPr lang="en-US" sz="1600" dirty="0"/>
          </a:p>
          <a:p>
            <a:pPr marL="228600" indent="-228600">
              <a:spcAft>
                <a:spcPts val="800"/>
              </a:spcAft>
              <a:buSzPct val="100000"/>
              <a:buChar char="•"/>
            </a:pPr>
            <a:r>
              <a:rPr lang="en-US" sz="1900" dirty="0">
                <a:solidFill>
                  <a:srgbClr val="1F1F1F"/>
                </a:solidFill>
                <a:latin typeface="Times New Roman" pitchFamily="34" charset="0"/>
                <a:ea typeface="Times New Roman" pitchFamily="34" charset="-122"/>
                <a:cs typeface="Times New Roman" pitchFamily="34" charset="-120"/>
              </a:rPr>
              <a:t>Show up to five picks in a Streamlit interface</a:t>
            </a:r>
            <a:endParaRPr lang="en-US" sz="1600" dirty="0"/>
          </a:p>
          <a:p>
            <a:pPr marL="228600" indent="-228600">
              <a:spcAft>
                <a:spcPts val="800"/>
              </a:spcAft>
              <a:buSzPct val="100000"/>
              <a:buChar char="•"/>
            </a:pPr>
            <a:r>
              <a:rPr lang="en-US" sz="1900" dirty="0">
                <a:solidFill>
                  <a:srgbClr val="1F1F1F"/>
                </a:solidFill>
                <a:latin typeface="Times New Roman" pitchFamily="34" charset="0"/>
                <a:ea typeface="Times New Roman" pitchFamily="34" charset="-122"/>
                <a:cs typeface="Times New Roman" pitchFamily="34" charset="-120"/>
              </a:rPr>
              <a:t>Explain each recommendation</a:t>
            </a:r>
            <a:endParaRPr lang="en-US" sz="1600" dirty="0"/>
          </a:p>
        </p:txBody>
      </p:sp>
      <p:sp>
        <p:nvSpPr>
          <p:cNvPr id="8" name="Text 5"/>
          <p:cNvSpPr txBox="1"/>
          <p:nvPr/>
        </p:nvSpPr>
        <p:spPr>
          <a:xfrm>
            <a:off x="6446520" y="1600200"/>
            <a:ext cx="493776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Scope</a:t>
            </a:r>
            <a:endParaRPr lang="en-US" sz="2000" dirty="0"/>
          </a:p>
        </p:txBody>
      </p:sp>
      <p:sp>
        <p:nvSpPr>
          <p:cNvPr id="9" name="Text 6"/>
          <p:cNvSpPr txBox="1"/>
          <p:nvPr/>
        </p:nvSpPr>
        <p:spPr>
          <a:xfrm>
            <a:off x="6446520" y="2103120"/>
            <a:ext cx="5029200" cy="36576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Content-based recommendations from TMDB 5000 Movies and Credits (4,803 movies)</a:t>
            </a:r>
            <a:endParaRPr lang="en-US" sz="1600" dirty="0"/>
          </a:p>
          <a:p>
            <a:pPr marL="228600" indent="-228600">
              <a:spcAft>
                <a:spcPts val="8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Inputs: title, mood, language, minimum rating, runtime category</a:t>
            </a:r>
            <a:endParaRPr lang="en-US" sz="1600" dirty="0"/>
          </a:p>
          <a:p>
            <a:pPr marL="228600" indent="-228600">
              <a:spcAft>
                <a:spcPts val="8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Prototype: rule-based mood scoring, no collaborative filtering or viewing history</a:t>
            </a:r>
            <a:endParaRPr lang="en-US" sz="1600" dirty="0"/>
          </a:p>
          <a:p>
            <a:pPr marL="228600" indent="-228600">
              <a:spcAft>
                <a:spcPts val="800"/>
              </a:spcAft>
              <a:buSzPct val="100000"/>
              <a:buChar char="•"/>
            </a:pPr>
            <a:r>
              <a:rPr lang="en-US" sz="1800" dirty="0">
                <a:solidFill>
                  <a:srgbClr val="1F1F1F"/>
                </a:solidFill>
                <a:latin typeface="Times New Roman" pitchFamily="34" charset="0"/>
                <a:ea typeface="Times New Roman" pitchFamily="34" charset="-122"/>
                <a:cs typeface="Times New Roman" pitchFamily="34" charset="-120"/>
              </a:rPr>
              <a:t>Results depend on dataset coverage, network access and TMDB responses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Dataset Description</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647915834"/>
              </p:ext>
            </p:extLst>
          </p:nvPr>
        </p:nvGraphicFramePr>
        <p:xfrm>
          <a:off x="548640" y="1463040"/>
          <a:ext cx="6949440" cy="3520440"/>
        </p:xfrm>
        <a:graphic>
          <a:graphicData uri="http://schemas.openxmlformats.org/drawingml/2006/table">
            <a:tbl>
              <a:tblPr/>
              <a:tblGrid>
                <a:gridCol w="17373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tblGrid>
              <a:tr h="502920">
                <a:tc>
                  <a:txBody>
                    <a:bodyP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Feature</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2A5A"/>
                    </a:solidFill>
                  </a:tcPr>
                </a:tc>
                <a:tc>
                  <a:txBody>
                    <a:bodyP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Description</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2A5A"/>
                    </a:solidFill>
                  </a:tcPr>
                </a:tc>
                <a:extLst>
                  <a:ext uri="{0D108BD9-81ED-4DB2-BD59-A6C34878D82A}">
                    <a16:rowId xmlns:a16="http://schemas.microsoft.com/office/drawing/2014/main" val="10000"/>
                  </a:ext>
                </a:extLst>
              </a:tr>
              <a:tr h="502920">
                <a:tc>
                  <a:txBody>
                    <a:bodyPr/>
                    <a:lstStyle/>
                    <a:p>
                      <a:pPr marL="0" indent="0">
                        <a:buNone/>
                      </a:pPr>
                      <a:r>
                        <a:rPr lang="en-US" sz="1600" b="1" dirty="0">
                          <a:solidFill>
                            <a:srgbClr val="1F2A5A"/>
                          </a:solidFill>
                          <a:latin typeface="Times New Roman" pitchFamily="34" charset="0"/>
                          <a:ea typeface="Times New Roman" pitchFamily="34" charset="-122"/>
                          <a:cs typeface="Times New Roman" pitchFamily="34" charset="-120"/>
                        </a:rPr>
                        <a:t>Title</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600" dirty="0">
                          <a:solidFill>
                            <a:srgbClr val="1F1F1F"/>
                          </a:solidFill>
                          <a:latin typeface="Times New Roman" pitchFamily="34" charset="0"/>
                          <a:ea typeface="Times New Roman" pitchFamily="34" charset="-122"/>
                          <a:cs typeface="Times New Roman" pitchFamily="34" charset="-120"/>
                        </a:rPr>
                        <a:t>Name of the movie</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600" b="1" dirty="0">
                          <a:solidFill>
                            <a:srgbClr val="1F2A5A"/>
                          </a:solidFill>
                          <a:latin typeface="Times New Roman" pitchFamily="34" charset="0"/>
                          <a:ea typeface="Times New Roman" pitchFamily="34" charset="-122"/>
                          <a:cs typeface="Times New Roman" pitchFamily="34" charset="-120"/>
                        </a:rPr>
                        <a:t>Genres</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600" dirty="0">
                          <a:solidFill>
                            <a:srgbClr val="1F1F1F"/>
                          </a:solidFill>
                          <a:latin typeface="Times New Roman" pitchFamily="34" charset="0"/>
                          <a:ea typeface="Times New Roman" pitchFamily="34" charset="-122"/>
                          <a:cs typeface="Times New Roman" pitchFamily="34" charset="-120"/>
                        </a:rPr>
                        <a:t>Categories of the movie</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600" b="1" dirty="0">
                          <a:solidFill>
                            <a:srgbClr val="1F2A5A"/>
                          </a:solidFill>
                          <a:latin typeface="Times New Roman" pitchFamily="34" charset="0"/>
                          <a:ea typeface="Times New Roman" pitchFamily="34" charset="-122"/>
                          <a:cs typeface="Times New Roman" pitchFamily="34" charset="-120"/>
                        </a:rPr>
                        <a:t>Keywords</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600" dirty="0">
                          <a:solidFill>
                            <a:srgbClr val="1F1F1F"/>
                          </a:solidFill>
                          <a:latin typeface="Times New Roman" pitchFamily="34" charset="0"/>
                          <a:ea typeface="Times New Roman" pitchFamily="34" charset="-122"/>
                          <a:cs typeface="Times New Roman" pitchFamily="34" charset="-120"/>
                        </a:rPr>
                        <a:t>Important terms related to the movie</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600" b="1" dirty="0">
                          <a:solidFill>
                            <a:srgbClr val="1F2A5A"/>
                          </a:solidFill>
                          <a:latin typeface="Times New Roman" pitchFamily="34" charset="0"/>
                          <a:ea typeface="Times New Roman" pitchFamily="34" charset="-122"/>
                          <a:cs typeface="Times New Roman" pitchFamily="34" charset="-120"/>
                        </a:rPr>
                        <a:t>Overview</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600" dirty="0">
                          <a:solidFill>
                            <a:srgbClr val="1F1F1F"/>
                          </a:solidFill>
                          <a:latin typeface="Times New Roman" pitchFamily="34" charset="0"/>
                          <a:ea typeface="Times New Roman" pitchFamily="34" charset="-122"/>
                          <a:cs typeface="Times New Roman" pitchFamily="34" charset="-120"/>
                        </a:rPr>
                        <a:t>Short description of the plot</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600" b="1" dirty="0">
                          <a:solidFill>
                            <a:srgbClr val="1F2A5A"/>
                          </a:solidFill>
                          <a:latin typeface="Times New Roman" pitchFamily="34" charset="0"/>
                          <a:ea typeface="Times New Roman" pitchFamily="34" charset="-122"/>
                          <a:cs typeface="Times New Roman" pitchFamily="34" charset="-120"/>
                        </a:rPr>
                        <a:t>Cast</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600" dirty="0">
                          <a:solidFill>
                            <a:srgbClr val="1F1F1F"/>
                          </a:solidFill>
                          <a:latin typeface="Times New Roman" pitchFamily="34" charset="0"/>
                          <a:ea typeface="Times New Roman" pitchFamily="34" charset="-122"/>
                          <a:cs typeface="Times New Roman" pitchFamily="34" charset="-120"/>
                        </a:rPr>
                        <a:t>Actors in the movie</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600" b="1" dirty="0">
                          <a:solidFill>
                            <a:srgbClr val="1F2A5A"/>
                          </a:solidFill>
                          <a:latin typeface="Times New Roman" pitchFamily="34" charset="0"/>
                          <a:ea typeface="Times New Roman" pitchFamily="34" charset="-122"/>
                          <a:cs typeface="Times New Roman" pitchFamily="34" charset="-120"/>
                        </a:rPr>
                        <a:t>Director</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600" dirty="0">
                          <a:solidFill>
                            <a:srgbClr val="1F1F1F"/>
                          </a:solidFill>
                          <a:latin typeface="Times New Roman" pitchFamily="34" charset="0"/>
                          <a:ea typeface="Times New Roman" pitchFamily="34" charset="-122"/>
                          <a:cs typeface="Times New Roman" pitchFamily="34" charset="-120"/>
                        </a:rPr>
                        <a:t>Director of the movie</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1"/>
          <p:cNvSpPr/>
          <p:nvPr/>
        </p:nvSpPr>
        <p:spPr>
          <a:xfrm>
            <a:off x="7955280" y="1463040"/>
            <a:ext cx="3657600" cy="1371600"/>
          </a:xfrm>
          <a:prstGeom prst="roundRect">
            <a:avLst>
              <a:gd name="adj" fmla="val 6667"/>
            </a:avLst>
          </a:prstGeom>
          <a:solidFill>
            <a:srgbClr val="FFF0E5"/>
          </a:solidFill>
          <a:ln w="9525">
            <a:solidFill>
              <a:srgbClr val="D0D7E2"/>
            </a:solidFill>
            <a:prstDash val="solid"/>
          </a:ln>
          <a:effectLst>
            <a:outerShdw blurRad="76200" dist="25400" dir="5400000" algn="bl" rotWithShape="0">
              <a:srgbClr val="000000">
                <a:alpha val="12000"/>
              </a:srgbClr>
            </a:outerShdw>
          </a:effectLst>
        </p:spPr>
      </p:sp>
      <p:sp>
        <p:nvSpPr>
          <p:cNvPr id="6" name="Text 2"/>
          <p:cNvSpPr txBox="1"/>
          <p:nvPr/>
        </p:nvSpPr>
        <p:spPr>
          <a:xfrm>
            <a:off x="8092440" y="1572768"/>
            <a:ext cx="3383280" cy="685800"/>
          </a:xfrm>
          <a:prstGeom prst="rect">
            <a:avLst/>
          </a:prstGeom>
          <a:noFill/>
          <a:ln/>
        </p:spPr>
        <p:txBody>
          <a:bodyPr wrap="square" lIns="0" tIns="0" rIns="0" bIns="0" rtlCol="0" anchor="ctr"/>
          <a:lstStyle/>
          <a:p>
            <a:pPr marL="0" indent="0" algn="ctr">
              <a:buNone/>
            </a:pPr>
            <a:r>
              <a:rPr lang="en-US" sz="3000" b="1" dirty="0">
                <a:solidFill>
                  <a:srgbClr val="FF6600"/>
                </a:solidFill>
                <a:latin typeface="Times New Roman" pitchFamily="34" charset="0"/>
                <a:ea typeface="Times New Roman" pitchFamily="34" charset="-122"/>
                <a:cs typeface="Times New Roman" pitchFamily="34" charset="-120"/>
              </a:rPr>
              <a:t>4,803</a:t>
            </a:r>
            <a:endParaRPr lang="en-US" sz="3000" dirty="0"/>
          </a:p>
        </p:txBody>
      </p:sp>
      <p:sp>
        <p:nvSpPr>
          <p:cNvPr id="3" name="Text 3"/>
          <p:cNvSpPr txBox="1"/>
          <p:nvPr/>
        </p:nvSpPr>
        <p:spPr>
          <a:xfrm>
            <a:off x="8092440" y="2258568"/>
            <a:ext cx="3383280" cy="493776"/>
          </a:xfrm>
          <a:prstGeom prst="rect">
            <a:avLst/>
          </a:prstGeom>
          <a:noFill/>
          <a:ln/>
        </p:spPr>
        <p:txBody>
          <a:bodyPr wrap="square" lIns="0" tIns="0" rIns="0" bIns="0" rtlCol="0" anchor="t"/>
          <a:lstStyle/>
          <a:p>
            <a:pPr marL="0" indent="0" algn="ctr">
              <a:buNone/>
            </a:pPr>
            <a:r>
              <a:rPr lang="en-US" sz="1400" dirty="0">
                <a:solidFill>
                  <a:srgbClr val="4A4A4A"/>
                </a:solidFill>
                <a:latin typeface="Times New Roman" pitchFamily="34" charset="0"/>
                <a:ea typeface="Times New Roman" pitchFamily="34" charset="-122"/>
                <a:cs typeface="Times New Roman" pitchFamily="34" charset="-120"/>
              </a:rPr>
              <a:t>movies after preprocessing</a:t>
            </a:r>
            <a:endParaRPr lang="en-US" sz="1400" dirty="0"/>
          </a:p>
        </p:txBody>
      </p:sp>
      <p:sp>
        <p:nvSpPr>
          <p:cNvPr id="8" name="Shape 4"/>
          <p:cNvSpPr/>
          <p:nvPr/>
        </p:nvSpPr>
        <p:spPr>
          <a:xfrm>
            <a:off x="7955280" y="3017520"/>
            <a:ext cx="3657600" cy="1371600"/>
          </a:xfrm>
          <a:prstGeom prst="roundRect">
            <a:avLst>
              <a:gd name="adj" fmla="val 6667"/>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9" name="Text 5"/>
          <p:cNvSpPr txBox="1"/>
          <p:nvPr/>
        </p:nvSpPr>
        <p:spPr>
          <a:xfrm>
            <a:off x="8092440" y="3127248"/>
            <a:ext cx="3383280" cy="685800"/>
          </a:xfrm>
          <a:prstGeom prst="rect">
            <a:avLst/>
          </a:prstGeom>
          <a:noFill/>
          <a:ln/>
        </p:spPr>
        <p:txBody>
          <a:bodyPr wrap="square" lIns="0" tIns="0" rIns="0" bIns="0" rtlCol="0" anchor="ctr"/>
          <a:lstStyle/>
          <a:p>
            <a:pPr marL="0" indent="0" algn="ctr">
              <a:buNone/>
            </a:pPr>
            <a:r>
              <a:rPr lang="en-US" sz="3000" b="1" dirty="0">
                <a:solidFill>
                  <a:srgbClr val="1F2A5A"/>
                </a:solidFill>
                <a:latin typeface="Times New Roman" pitchFamily="34" charset="0"/>
                <a:ea typeface="Times New Roman" pitchFamily="34" charset="-122"/>
                <a:cs typeface="Times New Roman" pitchFamily="34" charset="-120"/>
              </a:rPr>
              <a:t>12</a:t>
            </a:r>
            <a:endParaRPr lang="en-US" sz="3000" dirty="0"/>
          </a:p>
        </p:txBody>
      </p:sp>
      <p:sp>
        <p:nvSpPr>
          <p:cNvPr id="10" name="Text 6"/>
          <p:cNvSpPr txBox="1"/>
          <p:nvPr/>
        </p:nvSpPr>
        <p:spPr>
          <a:xfrm>
            <a:off x="8092440" y="3813048"/>
            <a:ext cx="3383280" cy="493776"/>
          </a:xfrm>
          <a:prstGeom prst="rect">
            <a:avLst/>
          </a:prstGeom>
          <a:noFill/>
          <a:ln/>
        </p:spPr>
        <p:txBody>
          <a:bodyPr wrap="square" lIns="0" tIns="0" rIns="0" bIns="0" rtlCol="0" anchor="t"/>
          <a:lstStyle/>
          <a:p>
            <a:pPr marL="0" indent="0" algn="ctr">
              <a:buNone/>
            </a:pPr>
            <a:r>
              <a:rPr lang="en-US" sz="1400" dirty="0">
                <a:solidFill>
                  <a:srgbClr val="4A4A4A"/>
                </a:solidFill>
                <a:latin typeface="Times New Roman" pitchFamily="34" charset="0"/>
                <a:ea typeface="Times New Roman" pitchFamily="34" charset="-122"/>
                <a:cs typeface="Times New Roman" pitchFamily="34" charset="-120"/>
              </a:rPr>
              <a:t>columns in the working dataset</a:t>
            </a:r>
            <a:endParaRPr lang="en-US" sz="1400" dirty="0"/>
          </a:p>
        </p:txBody>
      </p:sp>
      <p:sp>
        <p:nvSpPr>
          <p:cNvPr id="11" name="Shape 7"/>
          <p:cNvSpPr/>
          <p:nvPr/>
        </p:nvSpPr>
        <p:spPr>
          <a:xfrm>
            <a:off x="7955280" y="4572000"/>
            <a:ext cx="3657600" cy="1371600"/>
          </a:xfrm>
          <a:prstGeom prst="roundRect">
            <a:avLst>
              <a:gd name="adj" fmla="val 6667"/>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2" name="Text 8"/>
          <p:cNvSpPr txBox="1"/>
          <p:nvPr/>
        </p:nvSpPr>
        <p:spPr>
          <a:xfrm>
            <a:off x="8092440" y="4681728"/>
            <a:ext cx="3383280" cy="685800"/>
          </a:xfrm>
          <a:prstGeom prst="rect">
            <a:avLst/>
          </a:prstGeom>
          <a:noFill/>
          <a:ln/>
        </p:spPr>
        <p:txBody>
          <a:bodyPr wrap="square" lIns="0" tIns="0" rIns="0" bIns="0" rtlCol="0" anchor="ctr"/>
          <a:lstStyle/>
          <a:p>
            <a:pPr marL="0" indent="0" algn="ctr">
              <a:buNone/>
            </a:pPr>
            <a:r>
              <a:rPr lang="en-US" sz="3000" b="1" dirty="0">
                <a:solidFill>
                  <a:srgbClr val="1F2A5A"/>
                </a:solidFill>
                <a:latin typeface="Times New Roman" pitchFamily="34" charset="0"/>
                <a:ea typeface="Times New Roman" pitchFamily="34" charset="-122"/>
                <a:cs typeface="Times New Roman" pitchFamily="34" charset="-120"/>
              </a:rPr>
              <a:t>5,000</a:t>
            </a:r>
            <a:endParaRPr lang="en-US" sz="3000" dirty="0"/>
          </a:p>
        </p:txBody>
      </p:sp>
      <p:sp>
        <p:nvSpPr>
          <p:cNvPr id="13" name="Text 9"/>
          <p:cNvSpPr txBox="1"/>
          <p:nvPr/>
        </p:nvSpPr>
        <p:spPr>
          <a:xfrm>
            <a:off x="8092440" y="5367528"/>
            <a:ext cx="3383280" cy="493776"/>
          </a:xfrm>
          <a:prstGeom prst="rect">
            <a:avLst/>
          </a:prstGeom>
          <a:noFill/>
          <a:ln/>
        </p:spPr>
        <p:txBody>
          <a:bodyPr wrap="square" lIns="0" tIns="0" rIns="0" bIns="0" rtlCol="0" anchor="t"/>
          <a:lstStyle/>
          <a:p>
            <a:pPr marL="0" indent="0" algn="ctr">
              <a:buNone/>
            </a:pPr>
            <a:r>
              <a:rPr lang="en-US" sz="1400" dirty="0">
                <a:solidFill>
                  <a:srgbClr val="4A4A4A"/>
                </a:solidFill>
                <a:latin typeface="Times New Roman" pitchFamily="34" charset="0"/>
                <a:ea typeface="Times New Roman" pitchFamily="34" charset="-122"/>
                <a:cs typeface="Times New Roman" pitchFamily="34" charset="-120"/>
              </a:rPr>
              <a:t>TF-IDF features per movie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Data Preprocessing</a:t>
            </a:r>
            <a:endParaRPr lang="en-US" sz="3200" dirty="0"/>
          </a:p>
        </p:txBody>
      </p:sp>
      <p:sp>
        <p:nvSpPr>
          <p:cNvPr id="4" name="Shape 1"/>
          <p:cNvSpPr/>
          <p:nvPr/>
        </p:nvSpPr>
        <p:spPr>
          <a:xfrm>
            <a:off x="548640" y="1554480"/>
            <a:ext cx="2011680" cy="2651760"/>
          </a:xfrm>
          <a:prstGeom prst="roundRect">
            <a:avLst>
              <a:gd name="adj" fmla="val 4545"/>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5" name="Shape 2"/>
          <p:cNvSpPr/>
          <p:nvPr/>
        </p:nvSpPr>
        <p:spPr>
          <a:xfrm>
            <a:off x="731520" y="1737360"/>
            <a:ext cx="457200" cy="457200"/>
          </a:xfrm>
          <a:prstGeom prst="ellipse">
            <a:avLst/>
          </a:prstGeom>
          <a:solidFill>
            <a:srgbClr val="1F2A5A"/>
          </a:solidFill>
          <a:ln w="12700">
            <a:solidFill>
              <a:srgbClr val="FFFFFF"/>
            </a:solidFill>
            <a:prstDash val="solid"/>
          </a:ln>
        </p:spPr>
      </p:sp>
      <p:sp>
        <p:nvSpPr>
          <p:cNvPr id="6" name="Text 3"/>
          <p:cNvSpPr txBox="1"/>
          <p:nvPr/>
        </p:nvSpPr>
        <p:spPr>
          <a:xfrm>
            <a:off x="731520" y="17373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7" name="Text 4"/>
          <p:cNvSpPr txBox="1"/>
          <p:nvPr/>
        </p:nvSpPr>
        <p:spPr>
          <a:xfrm>
            <a:off x="731520" y="2331720"/>
            <a:ext cx="1645920" cy="411480"/>
          </a:xfrm>
          <a:prstGeom prst="rect">
            <a:avLst/>
          </a:prstGeom>
          <a:noFill/>
          <a:ln/>
        </p:spPr>
        <p:txBody>
          <a:bodyPr wrap="square" lIns="0" tIns="0" rIns="0" bIns="0" rtlCol="0" anchor="t"/>
          <a:lstStyle/>
          <a:p>
            <a:pPr marL="0" indent="0">
              <a:buNone/>
            </a:pPr>
            <a:r>
              <a:rPr lang="en-US" sz="1900" b="1" dirty="0">
                <a:solidFill>
                  <a:srgbClr val="1F2A5A"/>
                </a:solidFill>
                <a:latin typeface="Times New Roman" pitchFamily="34" charset="0"/>
                <a:ea typeface="Times New Roman" pitchFamily="34" charset="-122"/>
                <a:cs typeface="Times New Roman" pitchFamily="34" charset="-120"/>
              </a:rPr>
              <a:t>Load &amp; join</a:t>
            </a:r>
            <a:endParaRPr lang="en-US" sz="1900" dirty="0"/>
          </a:p>
        </p:txBody>
      </p:sp>
      <p:sp>
        <p:nvSpPr>
          <p:cNvPr id="8" name="Text 5"/>
          <p:cNvSpPr txBox="1"/>
          <p:nvPr/>
        </p:nvSpPr>
        <p:spPr>
          <a:xfrm>
            <a:off x="731520" y="2834640"/>
            <a:ext cx="1645920" cy="1280160"/>
          </a:xfrm>
          <a:prstGeom prst="rect">
            <a:avLst/>
          </a:prstGeom>
          <a:noFill/>
          <a:ln/>
        </p:spPr>
        <p:txBody>
          <a:bodyPr wrap="square" lIns="0" tIns="0" rIns="0" bIns="0" rtlCol="0" anchor="t"/>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Movies and credits CSVs joined on movie id (Pandas)</a:t>
            </a:r>
            <a:endParaRPr lang="en-US" sz="1500" dirty="0"/>
          </a:p>
        </p:txBody>
      </p:sp>
      <p:sp>
        <p:nvSpPr>
          <p:cNvPr id="9" name="Shape 6"/>
          <p:cNvSpPr/>
          <p:nvPr/>
        </p:nvSpPr>
        <p:spPr>
          <a:xfrm>
            <a:off x="2587752" y="2880360"/>
            <a:ext cx="196596" cy="0"/>
          </a:xfrm>
          <a:prstGeom prst="line">
            <a:avLst/>
          </a:prstGeom>
          <a:noFill/>
          <a:ln w="25400">
            <a:solidFill>
              <a:srgbClr val="4A4A4A"/>
            </a:solidFill>
            <a:prstDash val="solid"/>
            <a:tailEnd type="triangle"/>
          </a:ln>
        </p:spPr>
      </p:sp>
      <p:sp>
        <p:nvSpPr>
          <p:cNvPr id="10" name="Shape 7"/>
          <p:cNvSpPr/>
          <p:nvPr/>
        </p:nvSpPr>
        <p:spPr>
          <a:xfrm>
            <a:off x="2811780" y="1554480"/>
            <a:ext cx="2011680" cy="2651760"/>
          </a:xfrm>
          <a:prstGeom prst="roundRect">
            <a:avLst>
              <a:gd name="adj" fmla="val 4545"/>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1" name="Shape 8"/>
          <p:cNvSpPr/>
          <p:nvPr/>
        </p:nvSpPr>
        <p:spPr>
          <a:xfrm>
            <a:off x="2994660" y="1737360"/>
            <a:ext cx="457200" cy="457200"/>
          </a:xfrm>
          <a:prstGeom prst="ellipse">
            <a:avLst/>
          </a:prstGeom>
          <a:solidFill>
            <a:srgbClr val="1F2A5A"/>
          </a:solidFill>
          <a:ln w="12700">
            <a:solidFill>
              <a:srgbClr val="FFFFFF"/>
            </a:solidFill>
            <a:prstDash val="solid"/>
          </a:ln>
        </p:spPr>
      </p:sp>
      <p:sp>
        <p:nvSpPr>
          <p:cNvPr id="12" name="Text 9"/>
          <p:cNvSpPr txBox="1"/>
          <p:nvPr/>
        </p:nvSpPr>
        <p:spPr>
          <a:xfrm>
            <a:off x="2994660" y="17373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13" name="Text 10"/>
          <p:cNvSpPr txBox="1"/>
          <p:nvPr/>
        </p:nvSpPr>
        <p:spPr>
          <a:xfrm>
            <a:off x="2994660" y="2331720"/>
            <a:ext cx="1645920" cy="411480"/>
          </a:xfrm>
          <a:prstGeom prst="rect">
            <a:avLst/>
          </a:prstGeom>
          <a:noFill/>
          <a:ln/>
        </p:spPr>
        <p:txBody>
          <a:bodyPr wrap="square" lIns="0" tIns="0" rIns="0" bIns="0" rtlCol="0" anchor="t"/>
          <a:lstStyle/>
          <a:p>
            <a:pPr marL="0" indent="0">
              <a:buNone/>
            </a:pPr>
            <a:r>
              <a:rPr lang="en-US" sz="1900" b="1" dirty="0">
                <a:solidFill>
                  <a:srgbClr val="1F2A5A"/>
                </a:solidFill>
                <a:latin typeface="Times New Roman" pitchFamily="34" charset="0"/>
                <a:ea typeface="Times New Roman" pitchFamily="34" charset="-122"/>
                <a:cs typeface="Times New Roman" pitchFamily="34" charset="-120"/>
              </a:rPr>
              <a:t>Parse fields</a:t>
            </a:r>
            <a:endParaRPr lang="en-US" sz="1900" dirty="0"/>
          </a:p>
        </p:txBody>
      </p:sp>
      <p:sp>
        <p:nvSpPr>
          <p:cNvPr id="14" name="Text 11"/>
          <p:cNvSpPr txBox="1"/>
          <p:nvPr/>
        </p:nvSpPr>
        <p:spPr>
          <a:xfrm>
            <a:off x="2994660" y="2834640"/>
            <a:ext cx="1645920" cy="1280160"/>
          </a:xfrm>
          <a:prstGeom prst="rect">
            <a:avLst/>
          </a:prstGeom>
          <a:noFill/>
          <a:ln/>
        </p:spPr>
        <p:txBody>
          <a:bodyPr wrap="square" lIns="0" tIns="0" rIns="0" bIns="0" rtlCol="0" anchor="t"/>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Genres, keywords, cast to names; director from crew</a:t>
            </a:r>
            <a:endParaRPr lang="en-US" sz="1500" dirty="0"/>
          </a:p>
        </p:txBody>
      </p:sp>
      <p:sp>
        <p:nvSpPr>
          <p:cNvPr id="15" name="Shape 12"/>
          <p:cNvSpPr/>
          <p:nvPr/>
        </p:nvSpPr>
        <p:spPr>
          <a:xfrm>
            <a:off x="4850892" y="2880360"/>
            <a:ext cx="196596" cy="0"/>
          </a:xfrm>
          <a:prstGeom prst="line">
            <a:avLst/>
          </a:prstGeom>
          <a:noFill/>
          <a:ln w="25400">
            <a:solidFill>
              <a:srgbClr val="4A4A4A"/>
            </a:solidFill>
            <a:prstDash val="solid"/>
            <a:tailEnd type="triangle"/>
          </a:ln>
        </p:spPr>
      </p:sp>
      <p:sp>
        <p:nvSpPr>
          <p:cNvPr id="16" name="Shape 13"/>
          <p:cNvSpPr/>
          <p:nvPr/>
        </p:nvSpPr>
        <p:spPr>
          <a:xfrm>
            <a:off x="5074920" y="1554480"/>
            <a:ext cx="2011680" cy="2651760"/>
          </a:xfrm>
          <a:prstGeom prst="roundRect">
            <a:avLst>
              <a:gd name="adj" fmla="val 4545"/>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7" name="Shape 14"/>
          <p:cNvSpPr/>
          <p:nvPr/>
        </p:nvSpPr>
        <p:spPr>
          <a:xfrm>
            <a:off x="5257800" y="1737360"/>
            <a:ext cx="457200" cy="457200"/>
          </a:xfrm>
          <a:prstGeom prst="ellipse">
            <a:avLst/>
          </a:prstGeom>
          <a:solidFill>
            <a:srgbClr val="1F2A5A"/>
          </a:solidFill>
          <a:ln w="12700">
            <a:solidFill>
              <a:srgbClr val="FFFFFF"/>
            </a:solidFill>
            <a:prstDash val="solid"/>
          </a:ln>
        </p:spPr>
      </p:sp>
      <p:sp>
        <p:nvSpPr>
          <p:cNvPr id="18" name="Text 15"/>
          <p:cNvSpPr txBox="1"/>
          <p:nvPr/>
        </p:nvSpPr>
        <p:spPr>
          <a:xfrm>
            <a:off x="5257800" y="17373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19" name="Text 16"/>
          <p:cNvSpPr txBox="1"/>
          <p:nvPr/>
        </p:nvSpPr>
        <p:spPr>
          <a:xfrm>
            <a:off x="5257800" y="2331720"/>
            <a:ext cx="1645920" cy="411480"/>
          </a:xfrm>
          <a:prstGeom prst="rect">
            <a:avLst/>
          </a:prstGeom>
          <a:noFill/>
          <a:ln/>
        </p:spPr>
        <p:txBody>
          <a:bodyPr wrap="square" lIns="0" tIns="0" rIns="0" bIns="0" rtlCol="0" anchor="t"/>
          <a:lstStyle/>
          <a:p>
            <a:pPr marL="0" indent="0">
              <a:buNone/>
            </a:pPr>
            <a:r>
              <a:rPr lang="en-US" sz="1900" b="1" dirty="0">
                <a:solidFill>
                  <a:srgbClr val="1F2A5A"/>
                </a:solidFill>
                <a:latin typeface="Times New Roman" pitchFamily="34" charset="0"/>
                <a:ea typeface="Times New Roman" pitchFamily="34" charset="-122"/>
                <a:cs typeface="Times New Roman" pitchFamily="34" charset="-120"/>
              </a:rPr>
              <a:t>Clean</a:t>
            </a:r>
            <a:endParaRPr lang="en-US" sz="1900" dirty="0"/>
          </a:p>
        </p:txBody>
      </p:sp>
      <p:sp>
        <p:nvSpPr>
          <p:cNvPr id="20" name="Text 17"/>
          <p:cNvSpPr txBox="1"/>
          <p:nvPr/>
        </p:nvSpPr>
        <p:spPr>
          <a:xfrm>
            <a:off x="5257800" y="2834640"/>
            <a:ext cx="1645920" cy="1280160"/>
          </a:xfrm>
          <a:prstGeom prst="rect">
            <a:avLst/>
          </a:prstGeom>
          <a:noFill/>
          <a:ln/>
        </p:spPr>
        <p:txBody>
          <a:bodyPr wrap="square" lIns="0" tIns="0" rIns="0" bIns="0" rtlCol="0" anchor="t"/>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Handle missing text; review duplicate titles</a:t>
            </a:r>
            <a:endParaRPr lang="en-US" sz="1500" dirty="0"/>
          </a:p>
        </p:txBody>
      </p:sp>
      <p:sp>
        <p:nvSpPr>
          <p:cNvPr id="21" name="Shape 18"/>
          <p:cNvSpPr/>
          <p:nvPr/>
        </p:nvSpPr>
        <p:spPr>
          <a:xfrm>
            <a:off x="7114032" y="2880360"/>
            <a:ext cx="196596" cy="0"/>
          </a:xfrm>
          <a:prstGeom prst="line">
            <a:avLst/>
          </a:prstGeom>
          <a:noFill/>
          <a:ln w="25400">
            <a:solidFill>
              <a:srgbClr val="4A4A4A"/>
            </a:solidFill>
            <a:prstDash val="solid"/>
            <a:tailEnd type="triangle"/>
          </a:ln>
        </p:spPr>
      </p:sp>
      <p:sp>
        <p:nvSpPr>
          <p:cNvPr id="22" name="Shape 19"/>
          <p:cNvSpPr/>
          <p:nvPr/>
        </p:nvSpPr>
        <p:spPr>
          <a:xfrm>
            <a:off x="7338060" y="1554480"/>
            <a:ext cx="2011680" cy="2651760"/>
          </a:xfrm>
          <a:prstGeom prst="roundRect">
            <a:avLst>
              <a:gd name="adj" fmla="val 4545"/>
            </a:avLst>
          </a:prstGeom>
          <a:solidFill>
            <a:srgbClr val="FFF0E5"/>
          </a:solidFill>
          <a:ln w="9525">
            <a:solidFill>
              <a:srgbClr val="D0D7E2"/>
            </a:solidFill>
            <a:prstDash val="solid"/>
          </a:ln>
          <a:effectLst>
            <a:outerShdw blurRad="76200" dist="25400" dir="5400000" algn="bl" rotWithShape="0">
              <a:srgbClr val="000000">
                <a:alpha val="12000"/>
              </a:srgbClr>
            </a:outerShdw>
          </a:effectLst>
        </p:spPr>
      </p:sp>
      <p:sp>
        <p:nvSpPr>
          <p:cNvPr id="23" name="Shape 20"/>
          <p:cNvSpPr/>
          <p:nvPr/>
        </p:nvSpPr>
        <p:spPr>
          <a:xfrm>
            <a:off x="7520940" y="1737360"/>
            <a:ext cx="457200" cy="457200"/>
          </a:xfrm>
          <a:prstGeom prst="ellipse">
            <a:avLst/>
          </a:prstGeom>
          <a:solidFill>
            <a:srgbClr val="FF6600"/>
          </a:solidFill>
          <a:ln w="12700">
            <a:solidFill>
              <a:srgbClr val="FFFFFF"/>
            </a:solidFill>
            <a:prstDash val="solid"/>
          </a:ln>
        </p:spPr>
      </p:sp>
      <p:sp>
        <p:nvSpPr>
          <p:cNvPr id="24" name="Text 21"/>
          <p:cNvSpPr txBox="1"/>
          <p:nvPr/>
        </p:nvSpPr>
        <p:spPr>
          <a:xfrm>
            <a:off x="7520940" y="17373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4</a:t>
            </a:r>
            <a:endParaRPr lang="en-US" sz="1800" dirty="0"/>
          </a:p>
        </p:txBody>
      </p:sp>
      <p:sp>
        <p:nvSpPr>
          <p:cNvPr id="25" name="Text 22"/>
          <p:cNvSpPr txBox="1"/>
          <p:nvPr/>
        </p:nvSpPr>
        <p:spPr>
          <a:xfrm>
            <a:off x="7520940" y="2331720"/>
            <a:ext cx="1645920" cy="411480"/>
          </a:xfrm>
          <a:prstGeom prst="rect">
            <a:avLst/>
          </a:prstGeom>
          <a:noFill/>
          <a:ln/>
        </p:spPr>
        <p:txBody>
          <a:bodyPr wrap="square" lIns="0" tIns="0" rIns="0" bIns="0" rtlCol="0" anchor="t"/>
          <a:lstStyle/>
          <a:p>
            <a:pPr marL="0" indent="0">
              <a:buNone/>
            </a:pPr>
            <a:r>
              <a:rPr lang="en-US" sz="1900" b="1" dirty="0">
                <a:solidFill>
                  <a:srgbClr val="1F2A5A"/>
                </a:solidFill>
                <a:latin typeface="Times New Roman" pitchFamily="34" charset="0"/>
                <a:ea typeface="Times New Roman" pitchFamily="34" charset="-122"/>
                <a:cs typeface="Times New Roman" pitchFamily="34" charset="-120"/>
              </a:rPr>
              <a:t>Create tags</a:t>
            </a:r>
            <a:endParaRPr lang="en-US" sz="1900" dirty="0"/>
          </a:p>
        </p:txBody>
      </p:sp>
      <p:sp>
        <p:nvSpPr>
          <p:cNvPr id="26" name="Text 23"/>
          <p:cNvSpPr txBox="1"/>
          <p:nvPr/>
        </p:nvSpPr>
        <p:spPr>
          <a:xfrm>
            <a:off x="7520940" y="2834640"/>
            <a:ext cx="1645920" cy="1280160"/>
          </a:xfrm>
          <a:prstGeom prst="rect">
            <a:avLst/>
          </a:prstGeom>
          <a:noFill/>
          <a:ln/>
        </p:spPr>
        <p:txBody>
          <a:bodyPr wrap="square" lIns="0" tIns="0" rIns="0" bIns="0" rtlCol="0" anchor="t"/>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genres + keywords + overview + cast + director</a:t>
            </a:r>
            <a:endParaRPr lang="en-US" sz="1500" dirty="0"/>
          </a:p>
        </p:txBody>
      </p:sp>
      <p:sp>
        <p:nvSpPr>
          <p:cNvPr id="27" name="Shape 24"/>
          <p:cNvSpPr/>
          <p:nvPr/>
        </p:nvSpPr>
        <p:spPr>
          <a:xfrm>
            <a:off x="9377172" y="2880360"/>
            <a:ext cx="196596" cy="0"/>
          </a:xfrm>
          <a:prstGeom prst="line">
            <a:avLst/>
          </a:prstGeom>
          <a:noFill/>
          <a:ln w="25400">
            <a:solidFill>
              <a:srgbClr val="4A4A4A"/>
            </a:solidFill>
            <a:prstDash val="solid"/>
            <a:tailEnd type="triangle"/>
          </a:ln>
        </p:spPr>
      </p:sp>
      <p:sp>
        <p:nvSpPr>
          <p:cNvPr id="28" name="Shape 25"/>
          <p:cNvSpPr/>
          <p:nvPr/>
        </p:nvSpPr>
        <p:spPr>
          <a:xfrm>
            <a:off x="9601200" y="1554480"/>
            <a:ext cx="2011680" cy="2651760"/>
          </a:xfrm>
          <a:prstGeom prst="roundRect">
            <a:avLst>
              <a:gd name="adj" fmla="val 4545"/>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29" name="Shape 26"/>
          <p:cNvSpPr/>
          <p:nvPr/>
        </p:nvSpPr>
        <p:spPr>
          <a:xfrm>
            <a:off x="9784080" y="1737360"/>
            <a:ext cx="457200" cy="457200"/>
          </a:xfrm>
          <a:prstGeom prst="ellipse">
            <a:avLst/>
          </a:prstGeom>
          <a:solidFill>
            <a:srgbClr val="1F2A5A"/>
          </a:solidFill>
          <a:ln w="12700">
            <a:solidFill>
              <a:srgbClr val="FFFFFF"/>
            </a:solidFill>
            <a:prstDash val="solid"/>
          </a:ln>
        </p:spPr>
      </p:sp>
      <p:sp>
        <p:nvSpPr>
          <p:cNvPr id="30" name="Text 27"/>
          <p:cNvSpPr txBox="1"/>
          <p:nvPr/>
        </p:nvSpPr>
        <p:spPr>
          <a:xfrm>
            <a:off x="9784080" y="173736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5</a:t>
            </a:r>
            <a:endParaRPr lang="en-US" sz="1800" dirty="0"/>
          </a:p>
        </p:txBody>
      </p:sp>
      <p:sp>
        <p:nvSpPr>
          <p:cNvPr id="31" name="Text 28"/>
          <p:cNvSpPr txBox="1"/>
          <p:nvPr/>
        </p:nvSpPr>
        <p:spPr>
          <a:xfrm>
            <a:off x="9784080" y="2331720"/>
            <a:ext cx="1645920" cy="411480"/>
          </a:xfrm>
          <a:prstGeom prst="rect">
            <a:avLst/>
          </a:prstGeom>
          <a:noFill/>
          <a:ln/>
        </p:spPr>
        <p:txBody>
          <a:bodyPr wrap="square" lIns="0" tIns="0" rIns="0" bIns="0" rtlCol="0" anchor="t"/>
          <a:lstStyle/>
          <a:p>
            <a:pPr marL="0" indent="0">
              <a:buNone/>
            </a:pPr>
            <a:r>
              <a:rPr lang="en-US" sz="1900" b="1" dirty="0">
                <a:solidFill>
                  <a:srgbClr val="1F2A5A"/>
                </a:solidFill>
                <a:latin typeface="Times New Roman" pitchFamily="34" charset="0"/>
                <a:ea typeface="Times New Roman" pitchFamily="34" charset="-122"/>
                <a:cs typeface="Times New Roman" pitchFamily="34" charset="-120"/>
              </a:rPr>
              <a:t>TF-IDF &amp; save</a:t>
            </a:r>
            <a:endParaRPr lang="en-US" sz="1900" dirty="0"/>
          </a:p>
        </p:txBody>
      </p:sp>
      <p:sp>
        <p:nvSpPr>
          <p:cNvPr id="32" name="Text 29"/>
          <p:cNvSpPr txBox="1"/>
          <p:nvPr/>
        </p:nvSpPr>
        <p:spPr>
          <a:xfrm>
            <a:off x="9784080" y="2834640"/>
            <a:ext cx="1645920" cy="1280160"/>
          </a:xfrm>
          <a:prstGeom prst="rect">
            <a:avLst/>
          </a:prstGeom>
          <a:noFill/>
          <a:ln/>
        </p:spPr>
        <p:txBody>
          <a:bodyPr wrap="square" lIns="0" tIns="0" rIns="0" bIns="0" rtlCol="0" anchor="t"/>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5,000 features; vectors saved with Pickle</a:t>
            </a:r>
            <a:endParaRPr lang="en-US" sz="1500" dirty="0"/>
          </a:p>
        </p:txBody>
      </p:sp>
      <p:sp>
        <p:nvSpPr>
          <p:cNvPr id="33" name="Shape 30"/>
          <p:cNvSpPr/>
          <p:nvPr/>
        </p:nvSpPr>
        <p:spPr>
          <a:xfrm>
            <a:off x="548640" y="4526280"/>
            <a:ext cx="11064240" cy="1417320"/>
          </a:xfrm>
          <a:prstGeom prst="roundRect">
            <a:avLst>
              <a:gd name="adj" fmla="val 645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34" name="Text 31"/>
          <p:cNvSpPr txBox="1"/>
          <p:nvPr/>
        </p:nvSpPr>
        <p:spPr>
          <a:xfrm>
            <a:off x="822960" y="4617720"/>
            <a:ext cx="274320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Example</a:t>
            </a:r>
            <a:endParaRPr lang="en-US" sz="2000" dirty="0"/>
          </a:p>
        </p:txBody>
      </p:sp>
      <p:sp>
        <p:nvSpPr>
          <p:cNvPr id="35" name="Text 32"/>
          <p:cNvSpPr txBox="1"/>
          <p:nvPr/>
        </p:nvSpPr>
        <p:spPr>
          <a:xfrm>
            <a:off x="822960" y="5029200"/>
            <a:ext cx="10515600" cy="868680"/>
          </a:xfrm>
          <a:prstGeom prst="rect">
            <a:avLst/>
          </a:prstGeom>
          <a:noFill/>
          <a:ln/>
        </p:spPr>
        <p:txBody>
          <a:bodyPr wrap="square" lIns="0" tIns="0" rIns="0" bIns="0" rtlCol="0" anchor="t"/>
          <a:lstStyle/>
          <a:p>
            <a:pPr marL="0" indent="0">
              <a:buNone/>
            </a:pPr>
            <a:r>
              <a:rPr lang="en-US" sz="1600" dirty="0">
                <a:solidFill>
                  <a:srgbClr val="1F1F1F"/>
                </a:solidFill>
                <a:latin typeface="Times New Roman" pitchFamily="34" charset="0"/>
                <a:ea typeface="Times New Roman" pitchFamily="34" charset="-122"/>
                <a:cs typeface="Times New Roman" pitchFamily="34" charset="-120"/>
              </a:rPr>
              <a:t>A space-exploration movie gets tags such as “space”, “science fiction”, “survival” and “astronaut”, plus its cast and director names. TF-IDF weights these words, so movies that share meaningful terms get similar vectors.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Exploratory Data Analysis (EDA)</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3977640"/>
        </p:xfrm>
        <a:graphic>
          <a:graphicData uri="http://schemas.openxmlformats.org/drawingml/2006/table">
            <a:tbl>
              <a:tblPr/>
              <a:tblGrid>
                <a:gridCol w="192024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411480">
                <a:tc>
                  <a:txBody>
                    <a:bodyP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Check</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2A5A"/>
                    </a:solidFill>
                  </a:tcPr>
                </a:tc>
                <a:tc>
                  <a:txBody>
                    <a:bodyP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What was examined</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2A5A"/>
                    </a:solidFill>
                  </a:tcPr>
                </a:tc>
                <a:tc>
                  <a:txBody>
                    <a:bodyP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Outcome</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2A5A"/>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A5A"/>
                          </a:solidFill>
                          <a:latin typeface="Times New Roman" pitchFamily="34" charset="0"/>
                          <a:ea typeface="Times New Roman" pitchFamily="34" charset="-122"/>
                          <a:cs typeface="Times New Roman" pitchFamily="34" charset="-120"/>
                        </a:rPr>
                        <a:t>Data shape</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Rows and columns after joining movies and credits</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4,803 rows × 12 columns</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A5A"/>
                          </a:solidFill>
                          <a:latin typeface="Times New Roman" pitchFamily="34" charset="0"/>
                          <a:ea typeface="Times New Roman" pitchFamily="34" charset="-122"/>
                          <a:cs typeface="Times New Roman" pitchFamily="34" charset="-120"/>
                        </a:rPr>
                        <a:t>Missing values</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Empty overviews or metadata that reduce similarity information</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Converted to safe strings before tags are built</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F2A5A"/>
                          </a:solidFill>
                          <a:latin typeface="Times New Roman" pitchFamily="34" charset="0"/>
                          <a:ea typeface="Times New Roman" pitchFamily="34" charset="-122"/>
                          <a:cs typeface="Times New Roman" pitchFamily="34" charset="-120"/>
                        </a:rPr>
                        <a:t>Duplicates</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Repeated records and titles</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Reviewed to avoid repeated recommendations</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3"/>
                  </a:ext>
                </a:extLst>
              </a:tr>
              <a:tr h="731520">
                <a:tc>
                  <a:txBody>
                    <a:bodyPr/>
                    <a:lstStyle/>
                    <a:p>
                      <a:pPr marL="0" indent="0">
                        <a:buNone/>
                      </a:pPr>
                      <a:r>
                        <a:rPr lang="en-US" sz="1500" b="1" dirty="0">
                          <a:solidFill>
                            <a:srgbClr val="1F2A5A"/>
                          </a:solidFill>
                          <a:latin typeface="Times New Roman" pitchFamily="34" charset="0"/>
                          <a:ea typeface="Times New Roman" pitchFamily="34" charset="-122"/>
                          <a:cs typeface="Times New Roman" pitchFamily="34" charset="-120"/>
                        </a:rPr>
                        <a:t>Feature roles</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Genres: category · keywords: themes · overview: plot · cast and director: creative context</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Five text features merged into tags</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500" b="1" dirty="0">
                          <a:solidFill>
                            <a:srgbClr val="1F2A5A"/>
                          </a:solidFill>
                          <a:latin typeface="Times New Roman" pitchFamily="34" charset="0"/>
                          <a:ea typeface="Times New Roman" pitchFamily="34" charset="-122"/>
                          <a:cs typeface="Times New Roman" pitchFamily="34" charset="-120"/>
                        </a:rPr>
                        <a:t>Vocabulary</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Word weights across all movie tags</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5,000 features; English stop words removed</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500" b="1" dirty="0">
                          <a:solidFill>
                            <a:srgbClr val="1F2A5A"/>
                          </a:solidFill>
                          <a:latin typeface="Times New Roman" pitchFamily="34" charset="0"/>
                          <a:ea typeface="Times New Roman" pitchFamily="34" charset="-122"/>
                          <a:cs typeface="Times New Roman" pitchFamily="34" charset="-120"/>
                        </a:rPr>
                        <a:t>Feature matrix</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Sparse TF-IDF representation</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Shape (4803, 5000)</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1"/>
          <p:cNvSpPr txBox="1"/>
          <p:nvPr/>
        </p:nvSpPr>
        <p:spPr>
          <a:xfrm>
            <a:off x="548640" y="5760720"/>
            <a:ext cx="11064240" cy="457200"/>
          </a:xfrm>
          <a:prstGeom prst="rect">
            <a:avLst/>
          </a:prstGeom>
          <a:noFill/>
          <a:ln/>
        </p:spPr>
        <p:txBody>
          <a:bodyPr wrap="square" lIns="0" tIns="0" rIns="0" bIns="0" rtlCol="0" anchor="t"/>
          <a:lstStyle/>
          <a:p>
            <a:pPr marL="0" indent="0">
              <a:buNone/>
            </a:pPr>
            <a:r>
              <a:rPr lang="en-US" sz="1600" i="1" dirty="0">
                <a:solidFill>
                  <a:srgbClr val="1F2A5A"/>
                </a:solidFill>
                <a:latin typeface="Times New Roman" pitchFamily="34" charset="0"/>
                <a:ea typeface="Times New Roman" pitchFamily="34" charset="-122"/>
                <a:cs typeface="Times New Roman" pitchFamily="34" charset="-120"/>
              </a:rPr>
              <a:t>Common words such as “the” and “and” do not separate one movie from another, which is why stop words are removed.</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Proposed Methodology</a:t>
            </a:r>
            <a:endParaRPr lang="en-US" sz="3200" dirty="0"/>
          </a:p>
        </p:txBody>
      </p:sp>
      <p:sp>
        <p:nvSpPr>
          <p:cNvPr id="4" name="Text 1"/>
          <p:cNvSpPr txBox="1"/>
          <p:nvPr/>
        </p:nvSpPr>
        <p:spPr>
          <a:xfrm>
            <a:off x="548640" y="1371600"/>
            <a:ext cx="1106424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1. Offline preparation</a:t>
            </a:r>
            <a:endParaRPr lang="en-US" sz="2000" dirty="0"/>
          </a:p>
        </p:txBody>
      </p:sp>
      <p:sp>
        <p:nvSpPr>
          <p:cNvPr id="5" name="Shape 2"/>
          <p:cNvSpPr/>
          <p:nvPr/>
        </p:nvSpPr>
        <p:spPr>
          <a:xfrm>
            <a:off x="548640" y="1874520"/>
            <a:ext cx="1993392" cy="1417320"/>
          </a:xfrm>
          <a:prstGeom prst="roundRect">
            <a:avLst>
              <a:gd name="adj" fmla="val 645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6" name="Text 3"/>
          <p:cNvSpPr txBox="1"/>
          <p:nvPr/>
        </p:nvSpPr>
        <p:spPr>
          <a:xfrm>
            <a:off x="658368" y="1965960"/>
            <a:ext cx="1773936" cy="45720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TMDB 5000 data</a:t>
            </a:r>
            <a:endParaRPr lang="en-US" sz="1700" dirty="0"/>
          </a:p>
        </p:txBody>
      </p:sp>
      <p:sp>
        <p:nvSpPr>
          <p:cNvPr id="7" name="Text 4"/>
          <p:cNvSpPr txBox="1"/>
          <p:nvPr/>
        </p:nvSpPr>
        <p:spPr>
          <a:xfrm>
            <a:off x="658368" y="2468880"/>
            <a:ext cx="1773936" cy="7772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Movies and Credits CSVs</a:t>
            </a:r>
            <a:endParaRPr lang="en-US" sz="1400" dirty="0"/>
          </a:p>
        </p:txBody>
      </p:sp>
      <p:sp>
        <p:nvSpPr>
          <p:cNvPr id="8" name="Shape 5"/>
          <p:cNvSpPr/>
          <p:nvPr/>
        </p:nvSpPr>
        <p:spPr>
          <a:xfrm>
            <a:off x="2569464" y="2587752"/>
            <a:ext cx="219456" cy="0"/>
          </a:xfrm>
          <a:prstGeom prst="line">
            <a:avLst/>
          </a:prstGeom>
          <a:noFill/>
          <a:ln w="25400">
            <a:solidFill>
              <a:srgbClr val="4A4A4A"/>
            </a:solidFill>
            <a:prstDash val="solid"/>
            <a:tailEnd type="triangle"/>
          </a:ln>
        </p:spPr>
      </p:sp>
      <p:sp>
        <p:nvSpPr>
          <p:cNvPr id="9" name="Shape 6"/>
          <p:cNvSpPr/>
          <p:nvPr/>
        </p:nvSpPr>
        <p:spPr>
          <a:xfrm>
            <a:off x="2816352" y="1874520"/>
            <a:ext cx="1993392" cy="1417320"/>
          </a:xfrm>
          <a:prstGeom prst="roundRect">
            <a:avLst>
              <a:gd name="adj" fmla="val 645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0" name="Text 7"/>
          <p:cNvSpPr txBox="1"/>
          <p:nvPr/>
        </p:nvSpPr>
        <p:spPr>
          <a:xfrm>
            <a:off x="2926080" y="1965960"/>
            <a:ext cx="1773936" cy="45720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Clean &amp; join</a:t>
            </a:r>
            <a:endParaRPr lang="en-US" sz="1700" dirty="0"/>
          </a:p>
        </p:txBody>
      </p:sp>
      <p:sp>
        <p:nvSpPr>
          <p:cNvPr id="11" name="Text 8"/>
          <p:cNvSpPr txBox="1"/>
          <p:nvPr/>
        </p:nvSpPr>
        <p:spPr>
          <a:xfrm>
            <a:off x="2926080" y="2468880"/>
            <a:ext cx="1773936" cy="7772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Parse fields, handle missing</a:t>
            </a:r>
            <a:endParaRPr lang="en-US" sz="1400" dirty="0"/>
          </a:p>
        </p:txBody>
      </p:sp>
      <p:sp>
        <p:nvSpPr>
          <p:cNvPr id="12" name="Shape 9"/>
          <p:cNvSpPr/>
          <p:nvPr/>
        </p:nvSpPr>
        <p:spPr>
          <a:xfrm>
            <a:off x="4837176" y="2587752"/>
            <a:ext cx="219456" cy="0"/>
          </a:xfrm>
          <a:prstGeom prst="line">
            <a:avLst/>
          </a:prstGeom>
          <a:noFill/>
          <a:ln w="25400">
            <a:solidFill>
              <a:srgbClr val="4A4A4A"/>
            </a:solidFill>
            <a:prstDash val="solid"/>
            <a:tailEnd type="triangle"/>
          </a:ln>
        </p:spPr>
      </p:sp>
      <p:sp>
        <p:nvSpPr>
          <p:cNvPr id="13" name="Shape 10"/>
          <p:cNvSpPr/>
          <p:nvPr/>
        </p:nvSpPr>
        <p:spPr>
          <a:xfrm>
            <a:off x="5084064" y="1874520"/>
            <a:ext cx="1993392" cy="1417320"/>
          </a:xfrm>
          <a:prstGeom prst="roundRect">
            <a:avLst>
              <a:gd name="adj" fmla="val 645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4" name="Text 11"/>
          <p:cNvSpPr txBox="1"/>
          <p:nvPr/>
        </p:nvSpPr>
        <p:spPr>
          <a:xfrm>
            <a:off x="5193792" y="1965960"/>
            <a:ext cx="1773936" cy="45720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Tags column</a:t>
            </a:r>
            <a:endParaRPr lang="en-US" sz="1700" dirty="0"/>
          </a:p>
        </p:txBody>
      </p:sp>
      <p:sp>
        <p:nvSpPr>
          <p:cNvPr id="15" name="Text 12"/>
          <p:cNvSpPr txBox="1"/>
          <p:nvPr/>
        </p:nvSpPr>
        <p:spPr>
          <a:xfrm>
            <a:off x="5193792" y="2468880"/>
            <a:ext cx="1773936" cy="7772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Five text features merged</a:t>
            </a:r>
            <a:endParaRPr lang="en-US" sz="1400" dirty="0"/>
          </a:p>
        </p:txBody>
      </p:sp>
      <p:sp>
        <p:nvSpPr>
          <p:cNvPr id="16" name="Shape 13"/>
          <p:cNvSpPr/>
          <p:nvPr/>
        </p:nvSpPr>
        <p:spPr>
          <a:xfrm>
            <a:off x="7104888" y="2587752"/>
            <a:ext cx="219456" cy="0"/>
          </a:xfrm>
          <a:prstGeom prst="line">
            <a:avLst/>
          </a:prstGeom>
          <a:noFill/>
          <a:ln w="25400">
            <a:solidFill>
              <a:srgbClr val="4A4A4A"/>
            </a:solidFill>
            <a:prstDash val="solid"/>
            <a:tailEnd type="triangle"/>
          </a:ln>
        </p:spPr>
      </p:sp>
      <p:sp>
        <p:nvSpPr>
          <p:cNvPr id="17" name="Shape 14"/>
          <p:cNvSpPr/>
          <p:nvPr/>
        </p:nvSpPr>
        <p:spPr>
          <a:xfrm>
            <a:off x="7351776" y="1874520"/>
            <a:ext cx="1993392" cy="1417320"/>
          </a:xfrm>
          <a:prstGeom prst="roundRect">
            <a:avLst>
              <a:gd name="adj" fmla="val 6452"/>
            </a:avLst>
          </a:prstGeom>
          <a:solidFill>
            <a:srgbClr val="FFF0E5"/>
          </a:solidFill>
          <a:ln w="9525">
            <a:solidFill>
              <a:srgbClr val="D0D7E2"/>
            </a:solidFill>
            <a:prstDash val="solid"/>
          </a:ln>
          <a:effectLst>
            <a:outerShdw blurRad="76200" dist="25400" dir="5400000" algn="bl" rotWithShape="0">
              <a:srgbClr val="000000">
                <a:alpha val="12000"/>
              </a:srgbClr>
            </a:outerShdw>
          </a:effectLst>
        </p:spPr>
      </p:sp>
      <p:sp>
        <p:nvSpPr>
          <p:cNvPr id="18" name="Text 15"/>
          <p:cNvSpPr txBox="1"/>
          <p:nvPr/>
        </p:nvSpPr>
        <p:spPr>
          <a:xfrm>
            <a:off x="7461504" y="1965960"/>
            <a:ext cx="1773936" cy="45720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TF-IDF</a:t>
            </a:r>
            <a:endParaRPr lang="en-US" sz="1700" dirty="0"/>
          </a:p>
        </p:txBody>
      </p:sp>
      <p:sp>
        <p:nvSpPr>
          <p:cNvPr id="19" name="Text 16"/>
          <p:cNvSpPr txBox="1"/>
          <p:nvPr/>
        </p:nvSpPr>
        <p:spPr>
          <a:xfrm>
            <a:off x="7461504" y="2468880"/>
            <a:ext cx="1773936" cy="7772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5,000 features</a:t>
            </a:r>
            <a:endParaRPr lang="en-US" sz="1400" dirty="0"/>
          </a:p>
        </p:txBody>
      </p:sp>
      <p:sp>
        <p:nvSpPr>
          <p:cNvPr id="20" name="Shape 17"/>
          <p:cNvSpPr/>
          <p:nvPr/>
        </p:nvSpPr>
        <p:spPr>
          <a:xfrm>
            <a:off x="9372600" y="2587752"/>
            <a:ext cx="219456" cy="0"/>
          </a:xfrm>
          <a:prstGeom prst="line">
            <a:avLst/>
          </a:prstGeom>
          <a:noFill/>
          <a:ln w="25400">
            <a:solidFill>
              <a:srgbClr val="4A4A4A"/>
            </a:solidFill>
            <a:prstDash val="solid"/>
            <a:tailEnd type="triangle"/>
          </a:ln>
        </p:spPr>
      </p:sp>
      <p:sp>
        <p:nvSpPr>
          <p:cNvPr id="21" name="Shape 18"/>
          <p:cNvSpPr/>
          <p:nvPr/>
        </p:nvSpPr>
        <p:spPr>
          <a:xfrm>
            <a:off x="9619488" y="1874520"/>
            <a:ext cx="1993392" cy="1417320"/>
          </a:xfrm>
          <a:prstGeom prst="roundRect">
            <a:avLst>
              <a:gd name="adj" fmla="val 645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22" name="Text 19"/>
          <p:cNvSpPr txBox="1"/>
          <p:nvPr/>
        </p:nvSpPr>
        <p:spPr>
          <a:xfrm>
            <a:off x="9729216" y="1965960"/>
            <a:ext cx="1773936" cy="45720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Pickle files</a:t>
            </a:r>
            <a:endParaRPr lang="en-US" sz="1700" dirty="0"/>
          </a:p>
        </p:txBody>
      </p:sp>
      <p:sp>
        <p:nvSpPr>
          <p:cNvPr id="23" name="Text 20"/>
          <p:cNvSpPr txBox="1"/>
          <p:nvPr/>
        </p:nvSpPr>
        <p:spPr>
          <a:xfrm>
            <a:off x="9729216" y="2468880"/>
            <a:ext cx="1773936" cy="7772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movies, vectorizer, vectors</a:t>
            </a:r>
            <a:endParaRPr lang="en-US" sz="1400" dirty="0"/>
          </a:p>
        </p:txBody>
      </p:sp>
      <p:sp>
        <p:nvSpPr>
          <p:cNvPr id="24" name="Text 21"/>
          <p:cNvSpPr txBox="1"/>
          <p:nvPr/>
        </p:nvSpPr>
        <p:spPr>
          <a:xfrm>
            <a:off x="548640" y="3794760"/>
            <a:ext cx="1106424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2. Online request (Streamlit)</a:t>
            </a:r>
            <a:endParaRPr lang="en-US" sz="2000" dirty="0"/>
          </a:p>
        </p:txBody>
      </p:sp>
      <p:sp>
        <p:nvSpPr>
          <p:cNvPr id="25" name="Shape 22"/>
          <p:cNvSpPr/>
          <p:nvPr/>
        </p:nvSpPr>
        <p:spPr>
          <a:xfrm>
            <a:off x="548640" y="4297680"/>
            <a:ext cx="1615440" cy="1417320"/>
          </a:xfrm>
          <a:prstGeom prst="roundRect">
            <a:avLst>
              <a:gd name="adj" fmla="val 645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26" name="Text 23"/>
          <p:cNvSpPr txBox="1"/>
          <p:nvPr/>
        </p:nvSpPr>
        <p:spPr>
          <a:xfrm>
            <a:off x="658368" y="4389120"/>
            <a:ext cx="1395984" cy="45720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User input</a:t>
            </a:r>
            <a:endParaRPr lang="en-US" sz="1700" dirty="0"/>
          </a:p>
        </p:txBody>
      </p:sp>
      <p:sp>
        <p:nvSpPr>
          <p:cNvPr id="27" name="Text 24"/>
          <p:cNvSpPr txBox="1"/>
          <p:nvPr/>
        </p:nvSpPr>
        <p:spPr>
          <a:xfrm>
            <a:off x="658368" y="4892040"/>
            <a:ext cx="1395984" cy="7772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Title, mood, language, rating, runtime</a:t>
            </a:r>
            <a:endParaRPr lang="en-US" sz="1400" dirty="0"/>
          </a:p>
        </p:txBody>
      </p:sp>
      <p:sp>
        <p:nvSpPr>
          <p:cNvPr id="28" name="Shape 25"/>
          <p:cNvSpPr/>
          <p:nvPr/>
        </p:nvSpPr>
        <p:spPr>
          <a:xfrm>
            <a:off x="2191512" y="5010912"/>
            <a:ext cx="219456" cy="0"/>
          </a:xfrm>
          <a:prstGeom prst="line">
            <a:avLst/>
          </a:prstGeom>
          <a:noFill/>
          <a:ln w="25400">
            <a:solidFill>
              <a:srgbClr val="4A4A4A"/>
            </a:solidFill>
            <a:prstDash val="solid"/>
            <a:tailEnd type="triangle"/>
          </a:ln>
        </p:spPr>
      </p:sp>
      <p:sp>
        <p:nvSpPr>
          <p:cNvPr id="29" name="Shape 26"/>
          <p:cNvSpPr/>
          <p:nvPr/>
        </p:nvSpPr>
        <p:spPr>
          <a:xfrm>
            <a:off x="2438400" y="4297680"/>
            <a:ext cx="1615440" cy="1417320"/>
          </a:xfrm>
          <a:prstGeom prst="roundRect">
            <a:avLst>
              <a:gd name="adj" fmla="val 645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30" name="Text 27"/>
          <p:cNvSpPr txBox="1"/>
          <p:nvPr/>
        </p:nvSpPr>
        <p:spPr>
          <a:xfrm>
            <a:off x="2548128" y="4389120"/>
            <a:ext cx="1395984" cy="45720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Candidates</a:t>
            </a:r>
            <a:endParaRPr lang="en-US" sz="1700" dirty="0"/>
          </a:p>
        </p:txBody>
      </p:sp>
      <p:sp>
        <p:nvSpPr>
          <p:cNvPr id="31" name="Text 28"/>
          <p:cNvSpPr txBox="1"/>
          <p:nvPr/>
        </p:nvSpPr>
        <p:spPr>
          <a:xfrm>
            <a:off x="2548128" y="4892040"/>
            <a:ext cx="1395984" cy="7772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Cosine similarity + TMDB search/similar</a:t>
            </a:r>
            <a:endParaRPr lang="en-US" sz="1400" dirty="0"/>
          </a:p>
        </p:txBody>
      </p:sp>
      <p:sp>
        <p:nvSpPr>
          <p:cNvPr id="32" name="Shape 29"/>
          <p:cNvSpPr/>
          <p:nvPr/>
        </p:nvSpPr>
        <p:spPr>
          <a:xfrm>
            <a:off x="4081272" y="5010912"/>
            <a:ext cx="219456" cy="0"/>
          </a:xfrm>
          <a:prstGeom prst="line">
            <a:avLst/>
          </a:prstGeom>
          <a:noFill/>
          <a:ln w="25400">
            <a:solidFill>
              <a:srgbClr val="4A4A4A"/>
            </a:solidFill>
            <a:prstDash val="solid"/>
            <a:tailEnd type="triangle"/>
          </a:ln>
        </p:spPr>
      </p:sp>
      <p:sp>
        <p:nvSpPr>
          <p:cNvPr id="33" name="Shape 30"/>
          <p:cNvSpPr/>
          <p:nvPr/>
        </p:nvSpPr>
        <p:spPr>
          <a:xfrm>
            <a:off x="4328160" y="4297680"/>
            <a:ext cx="1615440" cy="1417320"/>
          </a:xfrm>
          <a:prstGeom prst="roundRect">
            <a:avLst>
              <a:gd name="adj" fmla="val 645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34" name="Text 31"/>
          <p:cNvSpPr txBox="1"/>
          <p:nvPr/>
        </p:nvSpPr>
        <p:spPr>
          <a:xfrm>
            <a:off x="4437888" y="4389120"/>
            <a:ext cx="1395984" cy="45720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Merge</a:t>
            </a:r>
            <a:endParaRPr lang="en-US" sz="1700" dirty="0"/>
          </a:p>
        </p:txBody>
      </p:sp>
      <p:sp>
        <p:nvSpPr>
          <p:cNvPr id="35" name="Text 32"/>
          <p:cNvSpPr txBox="1"/>
          <p:nvPr/>
        </p:nvSpPr>
        <p:spPr>
          <a:xfrm>
            <a:off x="4437888" y="4892040"/>
            <a:ext cx="1395984" cy="7772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Combine, remove duplicates</a:t>
            </a:r>
            <a:endParaRPr lang="en-US" sz="1400" dirty="0"/>
          </a:p>
        </p:txBody>
      </p:sp>
      <p:sp>
        <p:nvSpPr>
          <p:cNvPr id="36" name="Shape 33"/>
          <p:cNvSpPr/>
          <p:nvPr/>
        </p:nvSpPr>
        <p:spPr>
          <a:xfrm>
            <a:off x="5971032" y="5010912"/>
            <a:ext cx="219456" cy="0"/>
          </a:xfrm>
          <a:prstGeom prst="line">
            <a:avLst/>
          </a:prstGeom>
          <a:noFill/>
          <a:ln w="25400">
            <a:solidFill>
              <a:srgbClr val="4A4A4A"/>
            </a:solidFill>
            <a:prstDash val="solid"/>
            <a:tailEnd type="triangle"/>
          </a:ln>
        </p:spPr>
      </p:sp>
      <p:sp>
        <p:nvSpPr>
          <p:cNvPr id="37" name="Shape 34"/>
          <p:cNvSpPr/>
          <p:nvPr/>
        </p:nvSpPr>
        <p:spPr>
          <a:xfrm>
            <a:off x="6217920" y="4297680"/>
            <a:ext cx="1615440" cy="1417320"/>
          </a:xfrm>
          <a:prstGeom prst="roundRect">
            <a:avLst>
              <a:gd name="adj" fmla="val 645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38" name="Text 35"/>
          <p:cNvSpPr txBox="1"/>
          <p:nvPr/>
        </p:nvSpPr>
        <p:spPr>
          <a:xfrm>
            <a:off x="6327648" y="4389120"/>
            <a:ext cx="1395984" cy="45720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Preference scores</a:t>
            </a:r>
            <a:endParaRPr lang="en-US" sz="1700" dirty="0"/>
          </a:p>
        </p:txBody>
      </p:sp>
      <p:sp>
        <p:nvSpPr>
          <p:cNvPr id="39" name="Text 36"/>
          <p:cNvSpPr txBox="1"/>
          <p:nvPr/>
        </p:nvSpPr>
        <p:spPr>
          <a:xfrm>
            <a:off x="6327648" y="4892040"/>
            <a:ext cx="1395984" cy="7772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Mood, language, runtime, rating</a:t>
            </a:r>
            <a:endParaRPr lang="en-US" sz="1400" dirty="0"/>
          </a:p>
        </p:txBody>
      </p:sp>
      <p:sp>
        <p:nvSpPr>
          <p:cNvPr id="40" name="Shape 37"/>
          <p:cNvSpPr/>
          <p:nvPr/>
        </p:nvSpPr>
        <p:spPr>
          <a:xfrm>
            <a:off x="7860792" y="5010912"/>
            <a:ext cx="219456" cy="0"/>
          </a:xfrm>
          <a:prstGeom prst="line">
            <a:avLst/>
          </a:prstGeom>
          <a:noFill/>
          <a:ln w="25400">
            <a:solidFill>
              <a:srgbClr val="4A4A4A"/>
            </a:solidFill>
            <a:prstDash val="solid"/>
            <a:tailEnd type="triangle"/>
          </a:ln>
        </p:spPr>
      </p:sp>
      <p:sp>
        <p:nvSpPr>
          <p:cNvPr id="41" name="Shape 38"/>
          <p:cNvSpPr/>
          <p:nvPr/>
        </p:nvSpPr>
        <p:spPr>
          <a:xfrm>
            <a:off x="8107680" y="4297680"/>
            <a:ext cx="1615440" cy="1417320"/>
          </a:xfrm>
          <a:prstGeom prst="roundRect">
            <a:avLst>
              <a:gd name="adj" fmla="val 6452"/>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42" name="Text 39"/>
          <p:cNvSpPr txBox="1"/>
          <p:nvPr/>
        </p:nvSpPr>
        <p:spPr>
          <a:xfrm>
            <a:off x="8217408" y="4389120"/>
            <a:ext cx="1395984" cy="45720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Weighted rank</a:t>
            </a:r>
            <a:endParaRPr lang="en-US" sz="1700" dirty="0"/>
          </a:p>
        </p:txBody>
      </p:sp>
      <p:sp>
        <p:nvSpPr>
          <p:cNvPr id="43" name="Text 40"/>
          <p:cNvSpPr txBox="1"/>
          <p:nvPr/>
        </p:nvSpPr>
        <p:spPr>
          <a:xfrm>
            <a:off x="8217408" y="4892040"/>
            <a:ext cx="1395984" cy="7772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Content + preference score</a:t>
            </a:r>
            <a:endParaRPr lang="en-US" sz="1400" dirty="0"/>
          </a:p>
        </p:txBody>
      </p:sp>
      <p:sp>
        <p:nvSpPr>
          <p:cNvPr id="44" name="Shape 41"/>
          <p:cNvSpPr/>
          <p:nvPr/>
        </p:nvSpPr>
        <p:spPr>
          <a:xfrm>
            <a:off x="9750552" y="5010912"/>
            <a:ext cx="219456" cy="0"/>
          </a:xfrm>
          <a:prstGeom prst="line">
            <a:avLst/>
          </a:prstGeom>
          <a:noFill/>
          <a:ln w="25400">
            <a:solidFill>
              <a:srgbClr val="4A4A4A"/>
            </a:solidFill>
            <a:prstDash val="solid"/>
            <a:tailEnd type="triangle"/>
          </a:ln>
        </p:spPr>
      </p:sp>
      <p:sp>
        <p:nvSpPr>
          <p:cNvPr id="45" name="Shape 42"/>
          <p:cNvSpPr/>
          <p:nvPr/>
        </p:nvSpPr>
        <p:spPr>
          <a:xfrm>
            <a:off x="9997440" y="4297680"/>
            <a:ext cx="1615440" cy="1417320"/>
          </a:xfrm>
          <a:prstGeom prst="roundRect">
            <a:avLst>
              <a:gd name="adj" fmla="val 6452"/>
            </a:avLst>
          </a:prstGeom>
          <a:solidFill>
            <a:srgbClr val="FFF0E5"/>
          </a:solidFill>
          <a:ln w="9525">
            <a:solidFill>
              <a:srgbClr val="D0D7E2"/>
            </a:solidFill>
            <a:prstDash val="solid"/>
          </a:ln>
          <a:effectLst>
            <a:outerShdw blurRad="76200" dist="25400" dir="5400000" algn="bl" rotWithShape="0">
              <a:srgbClr val="000000">
                <a:alpha val="12000"/>
              </a:srgbClr>
            </a:outerShdw>
          </a:effectLst>
        </p:spPr>
      </p:sp>
      <p:sp>
        <p:nvSpPr>
          <p:cNvPr id="46" name="Text 43"/>
          <p:cNvSpPr txBox="1"/>
          <p:nvPr/>
        </p:nvSpPr>
        <p:spPr>
          <a:xfrm>
            <a:off x="10107168" y="4389120"/>
            <a:ext cx="1395984" cy="45720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Top 5 + reasons</a:t>
            </a:r>
            <a:endParaRPr lang="en-US" sz="1700" dirty="0"/>
          </a:p>
        </p:txBody>
      </p:sp>
      <p:sp>
        <p:nvSpPr>
          <p:cNvPr id="47" name="Text 44"/>
          <p:cNvSpPr txBox="1"/>
          <p:nvPr/>
        </p:nvSpPr>
        <p:spPr>
          <a:xfrm>
            <a:off x="10107168" y="4892040"/>
            <a:ext cx="1395984" cy="7772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“Why this movie?”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Machine Learning Algorithms Used</a:t>
            </a:r>
            <a:endParaRPr lang="en-US" sz="3200" dirty="0"/>
          </a:p>
        </p:txBody>
      </p:sp>
      <p:sp>
        <p:nvSpPr>
          <p:cNvPr id="4" name="Shape 1"/>
          <p:cNvSpPr/>
          <p:nvPr/>
        </p:nvSpPr>
        <p:spPr>
          <a:xfrm>
            <a:off x="548640" y="1417320"/>
            <a:ext cx="3566160" cy="3749040"/>
          </a:xfrm>
          <a:prstGeom prst="roundRect">
            <a:avLst>
              <a:gd name="adj" fmla="val 2564"/>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5" name="Shape 2"/>
          <p:cNvSpPr/>
          <p:nvPr/>
        </p:nvSpPr>
        <p:spPr>
          <a:xfrm>
            <a:off x="822960" y="1645920"/>
            <a:ext cx="685800" cy="685800"/>
          </a:xfrm>
          <a:prstGeom prst="ellipse">
            <a:avLst/>
          </a:prstGeom>
          <a:solidFill>
            <a:srgbClr val="1F2A5A"/>
          </a:solidFill>
          <a:ln w="12700">
            <a:solidFill>
              <a:srgbClr val="1F2A5A"/>
            </a:solidFill>
            <a:prstDash val="solid"/>
          </a:ln>
        </p:spPr>
      </p:sp>
      <p:pic>
        <p:nvPicPr>
          <p:cNvPr id="6" name="Image 0" descr="icons/LuDatabase.png"/>
          <p:cNvPicPr>
            <a:picLocks noChangeAspect="1"/>
          </p:cNvPicPr>
          <p:nvPr/>
        </p:nvPicPr>
        <p:blipFill>
          <a:blip r:embed="rId3"/>
          <a:stretch>
            <a:fillRect/>
          </a:stretch>
        </p:blipFill>
        <p:spPr>
          <a:xfrm>
            <a:off x="994410" y="1817370"/>
            <a:ext cx="342900" cy="342900"/>
          </a:xfrm>
          <a:prstGeom prst="rect">
            <a:avLst/>
          </a:prstGeom>
        </p:spPr>
      </p:pic>
      <p:sp>
        <p:nvSpPr>
          <p:cNvPr id="7" name="Text 3"/>
          <p:cNvSpPr txBox="1"/>
          <p:nvPr/>
        </p:nvSpPr>
        <p:spPr>
          <a:xfrm>
            <a:off x="1691640" y="1645920"/>
            <a:ext cx="2286000" cy="685800"/>
          </a:xfrm>
          <a:prstGeom prst="rect">
            <a:avLst/>
          </a:prstGeom>
          <a:noFill/>
          <a:ln/>
        </p:spPr>
        <p:txBody>
          <a:bodyPr wrap="square" lIns="0" tIns="0" rIns="0" bIns="0" rtlCol="0" anchor="ctr"/>
          <a:lstStyle/>
          <a:p>
            <a:pPr marL="0" indent="0">
              <a:buNone/>
            </a:pPr>
            <a:r>
              <a:rPr lang="en-US" sz="2100" b="1" dirty="0">
                <a:solidFill>
                  <a:srgbClr val="1F2A5A"/>
                </a:solidFill>
                <a:latin typeface="Times New Roman" pitchFamily="34" charset="0"/>
                <a:ea typeface="Times New Roman" pitchFamily="34" charset="-122"/>
                <a:cs typeface="Times New Roman" pitchFamily="34" charset="-120"/>
              </a:rPr>
              <a:t>TF-IDF</a:t>
            </a:r>
            <a:endParaRPr lang="en-US" sz="2100" dirty="0"/>
          </a:p>
        </p:txBody>
      </p:sp>
      <p:sp>
        <p:nvSpPr>
          <p:cNvPr id="8" name="Text 4"/>
          <p:cNvSpPr txBox="1"/>
          <p:nvPr/>
        </p:nvSpPr>
        <p:spPr>
          <a:xfrm>
            <a:off x="822960" y="2560320"/>
            <a:ext cx="3017520" cy="1188720"/>
          </a:xfrm>
          <a:prstGeom prst="rect">
            <a:avLst/>
          </a:prstGeom>
          <a:noFill/>
          <a:ln/>
        </p:spPr>
        <p:txBody>
          <a:bodyPr wrap="square" lIns="0" tIns="0" rIns="0" bIns="0" rtlCol="0" anchor="t"/>
          <a:lstStyle/>
          <a:p>
            <a:pPr marL="0" indent="0">
              <a:buNone/>
            </a:pPr>
            <a:r>
              <a:rPr lang="en-US" sz="1600" dirty="0">
                <a:solidFill>
                  <a:srgbClr val="1F1F1F"/>
                </a:solidFill>
                <a:latin typeface="Times New Roman" pitchFamily="34" charset="0"/>
                <a:ea typeface="Times New Roman" pitchFamily="34" charset="-122"/>
                <a:cs typeface="Times New Roman" pitchFamily="34" charset="-120"/>
              </a:rPr>
              <a:t>Converts movie tags into weighted numerical vectors (5,000 features, English stop words removed).</a:t>
            </a:r>
            <a:endParaRPr lang="en-US" sz="1600" dirty="0"/>
          </a:p>
        </p:txBody>
      </p:sp>
      <p:sp>
        <p:nvSpPr>
          <p:cNvPr id="9" name="Shape 5"/>
          <p:cNvSpPr/>
          <p:nvPr/>
        </p:nvSpPr>
        <p:spPr>
          <a:xfrm>
            <a:off x="777240" y="3977640"/>
            <a:ext cx="3108960" cy="960120"/>
          </a:xfrm>
          <a:prstGeom prst="roundRect">
            <a:avLst>
              <a:gd name="adj" fmla="val 7619"/>
            </a:avLst>
          </a:prstGeom>
          <a:solidFill>
            <a:srgbClr val="FFFFFF"/>
          </a:solidFill>
          <a:ln w="15875">
            <a:solidFill>
              <a:srgbClr val="FF6600"/>
            </a:solidFill>
            <a:prstDash val="solid"/>
          </a:ln>
        </p:spPr>
      </p:sp>
      <p:sp>
        <p:nvSpPr>
          <p:cNvPr id="10" name="Text 6"/>
          <p:cNvSpPr txBox="1"/>
          <p:nvPr/>
        </p:nvSpPr>
        <p:spPr>
          <a:xfrm>
            <a:off x="868680" y="3977640"/>
            <a:ext cx="2926080" cy="960120"/>
          </a:xfrm>
          <a:prstGeom prst="rect">
            <a:avLst/>
          </a:prstGeom>
          <a:noFill/>
          <a:ln/>
        </p:spPr>
        <p:txBody>
          <a:bodyPr wrap="square" lIns="0" tIns="0" rIns="0" bIns="0" rtlCol="0" anchor="ctr"/>
          <a:lstStyle/>
          <a:p>
            <a:pPr marL="0" indent="0" algn="ctr">
              <a:buNone/>
            </a:pPr>
            <a:r>
              <a:rPr lang="en-US" sz="1600" b="1" dirty="0">
                <a:solidFill>
                  <a:srgbClr val="1F1F1F"/>
                </a:solidFill>
                <a:latin typeface="Times New Roman" pitchFamily="34" charset="0"/>
                <a:ea typeface="Times New Roman" pitchFamily="34" charset="-122"/>
                <a:cs typeface="Times New Roman" pitchFamily="34" charset="-120"/>
              </a:rPr>
              <a:t>TFIDF(t, d) = TF(t, d) × IDF(t)</a:t>
            </a:r>
            <a:endParaRPr lang="en-US" sz="1600" dirty="0"/>
          </a:p>
        </p:txBody>
      </p:sp>
      <p:sp>
        <p:nvSpPr>
          <p:cNvPr id="11" name="Shape 7"/>
          <p:cNvSpPr/>
          <p:nvPr/>
        </p:nvSpPr>
        <p:spPr>
          <a:xfrm>
            <a:off x="4297680" y="1417320"/>
            <a:ext cx="3566160" cy="3749040"/>
          </a:xfrm>
          <a:prstGeom prst="roundRect">
            <a:avLst>
              <a:gd name="adj" fmla="val 2564"/>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2" name="Shape 8"/>
          <p:cNvSpPr/>
          <p:nvPr/>
        </p:nvSpPr>
        <p:spPr>
          <a:xfrm>
            <a:off x="4572000" y="1645920"/>
            <a:ext cx="685800" cy="685800"/>
          </a:xfrm>
          <a:prstGeom prst="ellipse">
            <a:avLst/>
          </a:prstGeom>
          <a:solidFill>
            <a:srgbClr val="FF6600"/>
          </a:solidFill>
          <a:ln w="12700">
            <a:solidFill>
              <a:srgbClr val="FF6600"/>
            </a:solidFill>
            <a:prstDash val="solid"/>
          </a:ln>
        </p:spPr>
      </p:sp>
      <p:pic>
        <p:nvPicPr>
          <p:cNvPr id="13" name="Image 1" descr="icons/LuGitCompare.png"/>
          <p:cNvPicPr>
            <a:picLocks noChangeAspect="1"/>
          </p:cNvPicPr>
          <p:nvPr/>
        </p:nvPicPr>
        <p:blipFill>
          <a:blip r:embed="rId4"/>
          <a:stretch>
            <a:fillRect/>
          </a:stretch>
        </p:blipFill>
        <p:spPr>
          <a:xfrm>
            <a:off x="4743450" y="1817370"/>
            <a:ext cx="342900" cy="342900"/>
          </a:xfrm>
          <a:prstGeom prst="rect">
            <a:avLst/>
          </a:prstGeom>
        </p:spPr>
      </p:pic>
      <p:sp>
        <p:nvSpPr>
          <p:cNvPr id="14" name="Text 9"/>
          <p:cNvSpPr txBox="1"/>
          <p:nvPr/>
        </p:nvSpPr>
        <p:spPr>
          <a:xfrm>
            <a:off x="5440680" y="1645920"/>
            <a:ext cx="2286000" cy="685800"/>
          </a:xfrm>
          <a:prstGeom prst="rect">
            <a:avLst/>
          </a:prstGeom>
          <a:noFill/>
          <a:ln/>
        </p:spPr>
        <p:txBody>
          <a:bodyPr wrap="square" lIns="0" tIns="0" rIns="0" bIns="0" rtlCol="0" anchor="ctr"/>
          <a:lstStyle/>
          <a:p>
            <a:pPr marL="0" indent="0">
              <a:buNone/>
            </a:pPr>
            <a:r>
              <a:rPr lang="en-US" sz="2100" b="1" dirty="0">
                <a:solidFill>
                  <a:srgbClr val="1F2A5A"/>
                </a:solidFill>
                <a:latin typeface="Times New Roman" pitchFamily="34" charset="0"/>
                <a:ea typeface="Times New Roman" pitchFamily="34" charset="-122"/>
                <a:cs typeface="Times New Roman" pitchFamily="34" charset="-120"/>
              </a:rPr>
              <a:t>Cosine similarity</a:t>
            </a:r>
            <a:endParaRPr lang="en-US" sz="2100" dirty="0"/>
          </a:p>
        </p:txBody>
      </p:sp>
      <p:sp>
        <p:nvSpPr>
          <p:cNvPr id="15" name="Text 10"/>
          <p:cNvSpPr txBox="1"/>
          <p:nvPr/>
        </p:nvSpPr>
        <p:spPr>
          <a:xfrm>
            <a:off x="4572000" y="2560320"/>
            <a:ext cx="3017520" cy="1188720"/>
          </a:xfrm>
          <a:prstGeom prst="rect">
            <a:avLst/>
          </a:prstGeom>
          <a:noFill/>
          <a:ln/>
        </p:spPr>
        <p:txBody>
          <a:bodyPr wrap="square" lIns="0" tIns="0" rIns="0" bIns="0" rtlCol="0" anchor="t"/>
          <a:lstStyle/>
          <a:p>
            <a:pPr marL="0" indent="0">
              <a:buNone/>
            </a:pPr>
            <a:r>
              <a:rPr lang="en-US" sz="1600" dirty="0">
                <a:solidFill>
                  <a:srgbClr val="1F1F1F"/>
                </a:solidFill>
                <a:latin typeface="Times New Roman" pitchFamily="34" charset="0"/>
                <a:ea typeface="Times New Roman" pitchFamily="34" charset="-122"/>
                <a:cs typeface="Times New Roman" pitchFamily="34" charset="-120"/>
              </a:rPr>
              <a:t>Measures the angle between two movie vectors; higher means more similar content.</a:t>
            </a:r>
            <a:endParaRPr lang="en-US" sz="1600" dirty="0"/>
          </a:p>
        </p:txBody>
      </p:sp>
      <p:sp>
        <p:nvSpPr>
          <p:cNvPr id="16" name="Shape 11"/>
          <p:cNvSpPr/>
          <p:nvPr/>
        </p:nvSpPr>
        <p:spPr>
          <a:xfrm>
            <a:off x="4526280" y="3977640"/>
            <a:ext cx="3108960" cy="960120"/>
          </a:xfrm>
          <a:prstGeom prst="roundRect">
            <a:avLst>
              <a:gd name="adj" fmla="val 7619"/>
            </a:avLst>
          </a:prstGeom>
          <a:solidFill>
            <a:srgbClr val="FFFFFF"/>
          </a:solidFill>
          <a:ln w="15875">
            <a:solidFill>
              <a:srgbClr val="FF6600"/>
            </a:solidFill>
            <a:prstDash val="solid"/>
          </a:ln>
        </p:spPr>
      </p:sp>
      <p:sp>
        <p:nvSpPr>
          <p:cNvPr id="17" name="Text 12"/>
          <p:cNvSpPr txBox="1"/>
          <p:nvPr/>
        </p:nvSpPr>
        <p:spPr>
          <a:xfrm>
            <a:off x="4617720" y="3977640"/>
            <a:ext cx="2926080" cy="960120"/>
          </a:xfrm>
          <a:prstGeom prst="rect">
            <a:avLst/>
          </a:prstGeom>
          <a:noFill/>
          <a:ln/>
        </p:spPr>
        <p:txBody>
          <a:bodyPr wrap="square" lIns="0" tIns="0" rIns="0" bIns="0" rtlCol="0" anchor="ctr"/>
          <a:lstStyle/>
          <a:p>
            <a:pPr marL="0" indent="0" algn="ctr">
              <a:buNone/>
            </a:pPr>
            <a:r>
              <a:rPr lang="en-US" sz="1600" b="1" dirty="0">
                <a:solidFill>
                  <a:srgbClr val="1F1F1F"/>
                </a:solidFill>
                <a:latin typeface="Times New Roman" pitchFamily="34" charset="0"/>
                <a:ea typeface="Times New Roman" pitchFamily="34" charset="-122"/>
                <a:cs typeface="Times New Roman" pitchFamily="34" charset="-120"/>
              </a:rPr>
              <a:t>sim(A, B) = A · B / (‖A‖ ‖B‖)</a:t>
            </a:r>
            <a:endParaRPr lang="en-US" sz="1600" dirty="0"/>
          </a:p>
        </p:txBody>
      </p:sp>
      <p:sp>
        <p:nvSpPr>
          <p:cNvPr id="18" name="Shape 13"/>
          <p:cNvSpPr/>
          <p:nvPr/>
        </p:nvSpPr>
        <p:spPr>
          <a:xfrm>
            <a:off x="8046720" y="1417320"/>
            <a:ext cx="3566160" cy="3749040"/>
          </a:xfrm>
          <a:prstGeom prst="roundRect">
            <a:avLst>
              <a:gd name="adj" fmla="val 2564"/>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9" name="Shape 14"/>
          <p:cNvSpPr/>
          <p:nvPr/>
        </p:nvSpPr>
        <p:spPr>
          <a:xfrm>
            <a:off x="8321040" y="1645920"/>
            <a:ext cx="685800" cy="685800"/>
          </a:xfrm>
          <a:prstGeom prst="ellipse">
            <a:avLst/>
          </a:prstGeom>
          <a:solidFill>
            <a:srgbClr val="1F2A5A"/>
          </a:solidFill>
          <a:ln w="12700">
            <a:solidFill>
              <a:srgbClr val="1F2A5A"/>
            </a:solidFill>
            <a:prstDash val="solid"/>
          </a:ln>
        </p:spPr>
      </p:sp>
      <p:pic>
        <p:nvPicPr>
          <p:cNvPr id="20" name="Image 2" descr="icons/LuListOrdered.png"/>
          <p:cNvPicPr>
            <a:picLocks noChangeAspect="1"/>
          </p:cNvPicPr>
          <p:nvPr/>
        </p:nvPicPr>
        <p:blipFill>
          <a:blip r:embed="rId5"/>
          <a:stretch>
            <a:fillRect/>
          </a:stretch>
        </p:blipFill>
        <p:spPr>
          <a:xfrm>
            <a:off x="8492490" y="1817370"/>
            <a:ext cx="342900" cy="342900"/>
          </a:xfrm>
          <a:prstGeom prst="rect">
            <a:avLst/>
          </a:prstGeom>
        </p:spPr>
      </p:pic>
      <p:sp>
        <p:nvSpPr>
          <p:cNvPr id="21" name="Text 15"/>
          <p:cNvSpPr txBox="1"/>
          <p:nvPr/>
        </p:nvSpPr>
        <p:spPr>
          <a:xfrm>
            <a:off x="9189720" y="1645920"/>
            <a:ext cx="2286000" cy="685800"/>
          </a:xfrm>
          <a:prstGeom prst="rect">
            <a:avLst/>
          </a:prstGeom>
          <a:noFill/>
          <a:ln/>
        </p:spPr>
        <p:txBody>
          <a:bodyPr wrap="square" lIns="0" tIns="0" rIns="0" bIns="0" rtlCol="0" anchor="ctr"/>
          <a:lstStyle/>
          <a:p>
            <a:pPr marL="0" indent="0">
              <a:buNone/>
            </a:pPr>
            <a:r>
              <a:rPr lang="en-US" sz="2100" b="1" dirty="0">
                <a:solidFill>
                  <a:srgbClr val="1F2A5A"/>
                </a:solidFill>
                <a:latin typeface="Times New Roman" pitchFamily="34" charset="0"/>
                <a:ea typeface="Times New Roman" pitchFamily="34" charset="-122"/>
                <a:cs typeface="Times New Roman" pitchFamily="34" charset="-120"/>
              </a:rPr>
              <a:t>Weighted ranking</a:t>
            </a:r>
            <a:endParaRPr lang="en-US" sz="2100" dirty="0"/>
          </a:p>
        </p:txBody>
      </p:sp>
      <p:sp>
        <p:nvSpPr>
          <p:cNvPr id="22" name="Text 16"/>
          <p:cNvSpPr txBox="1"/>
          <p:nvPr/>
        </p:nvSpPr>
        <p:spPr>
          <a:xfrm>
            <a:off x="8321040" y="2560320"/>
            <a:ext cx="3017520" cy="1188720"/>
          </a:xfrm>
          <a:prstGeom prst="rect">
            <a:avLst/>
          </a:prstGeom>
          <a:noFill/>
          <a:ln/>
        </p:spPr>
        <p:txBody>
          <a:bodyPr wrap="square" lIns="0" tIns="0" rIns="0" bIns="0" rtlCol="0" anchor="t"/>
          <a:lstStyle/>
          <a:p>
            <a:pPr marL="0" indent="0">
              <a:buNone/>
            </a:pPr>
            <a:r>
              <a:rPr lang="en-US" sz="1600" dirty="0">
                <a:solidFill>
                  <a:srgbClr val="1F1F1F"/>
                </a:solidFill>
                <a:latin typeface="Times New Roman" pitchFamily="34" charset="0"/>
                <a:ea typeface="Times New Roman" pitchFamily="34" charset="-122"/>
                <a:cs typeface="Times New Roman" pitchFamily="34" charset="-120"/>
              </a:rPr>
              <a:t>Combines content relevance with preference scores to order the candidates.</a:t>
            </a:r>
            <a:endParaRPr lang="en-US" sz="1600" dirty="0"/>
          </a:p>
        </p:txBody>
      </p:sp>
      <p:sp>
        <p:nvSpPr>
          <p:cNvPr id="23" name="Shape 17"/>
          <p:cNvSpPr/>
          <p:nvPr/>
        </p:nvSpPr>
        <p:spPr>
          <a:xfrm>
            <a:off x="8275320" y="3977640"/>
            <a:ext cx="3108960" cy="960120"/>
          </a:xfrm>
          <a:prstGeom prst="roundRect">
            <a:avLst>
              <a:gd name="adj" fmla="val 7619"/>
            </a:avLst>
          </a:prstGeom>
          <a:solidFill>
            <a:srgbClr val="FFFFFF"/>
          </a:solidFill>
          <a:ln w="15875">
            <a:solidFill>
              <a:srgbClr val="FF6600"/>
            </a:solidFill>
            <a:prstDash val="solid"/>
          </a:ln>
        </p:spPr>
      </p:sp>
      <p:sp>
        <p:nvSpPr>
          <p:cNvPr id="24" name="Text 18"/>
          <p:cNvSpPr txBox="1"/>
          <p:nvPr/>
        </p:nvSpPr>
        <p:spPr>
          <a:xfrm>
            <a:off x="8366760" y="3977640"/>
            <a:ext cx="2926080" cy="960120"/>
          </a:xfrm>
          <a:prstGeom prst="rect">
            <a:avLst/>
          </a:prstGeom>
          <a:noFill/>
          <a:ln/>
        </p:spPr>
        <p:txBody>
          <a:bodyPr wrap="square" lIns="0" tIns="0" rIns="0" bIns="0" rtlCol="0" anchor="ctr"/>
          <a:lstStyle/>
          <a:p>
            <a:pPr marL="0" indent="0" algn="ctr">
              <a:buNone/>
            </a:pPr>
            <a:r>
              <a:rPr lang="en-US" sz="1600" b="1" dirty="0">
                <a:solidFill>
                  <a:srgbClr val="1F1F1F"/>
                </a:solidFill>
                <a:latin typeface="Times New Roman" pitchFamily="34" charset="0"/>
                <a:ea typeface="Times New Roman" pitchFamily="34" charset="-122"/>
                <a:cs typeface="Times New Roman" pitchFamily="34" charset="-120"/>
              </a:rPr>
              <a:t>S = 0.55C + 0.20M + 0.10L + 0.10R + 0.05V</a:t>
            </a:r>
            <a:endParaRPr lang="en-US" sz="1600" dirty="0"/>
          </a:p>
        </p:txBody>
      </p:sp>
      <p:sp>
        <p:nvSpPr>
          <p:cNvPr id="25" name="Text 19"/>
          <p:cNvSpPr txBox="1"/>
          <p:nvPr/>
        </p:nvSpPr>
        <p:spPr>
          <a:xfrm>
            <a:off x="548640" y="5440680"/>
            <a:ext cx="11064240" cy="365760"/>
          </a:xfrm>
          <a:prstGeom prst="rect">
            <a:avLst/>
          </a:prstGeom>
          <a:noFill/>
          <a:ln/>
        </p:spPr>
        <p:txBody>
          <a:bodyPr wrap="square" lIns="0" tIns="0" rIns="0" bIns="0" rtlCol="0" anchor="t"/>
          <a:lstStyle/>
          <a:p>
            <a:pPr marL="0" indent="0" algn="ctr">
              <a:buNone/>
            </a:pPr>
            <a:r>
              <a:rPr lang="en-US" sz="1600" i="1" dirty="0">
                <a:solidFill>
                  <a:srgbClr val="1F2A5A"/>
                </a:solidFill>
                <a:latin typeface="Times New Roman" pitchFamily="34" charset="0"/>
                <a:ea typeface="Times New Roman" pitchFamily="34" charset="-122"/>
                <a:cs typeface="Times New Roman" pitchFamily="34" charset="-120"/>
              </a:rPr>
              <a:t>C = content relevance · M = mood · L = language · R = runtime · V = rating score</a:t>
            </a:r>
            <a:endParaRPr lang="en-US" sz="1600" dirty="0"/>
          </a:p>
        </p:txBody>
      </p:sp>
      <p:sp>
        <p:nvSpPr>
          <p:cNvPr id="26" name="Text 20"/>
          <p:cNvSpPr txBox="1"/>
          <p:nvPr/>
        </p:nvSpPr>
        <p:spPr>
          <a:xfrm>
            <a:off x="548640" y="5852160"/>
            <a:ext cx="11064240" cy="365760"/>
          </a:xfrm>
          <a:prstGeom prst="rect">
            <a:avLst/>
          </a:prstGeom>
          <a:noFill/>
          <a:ln/>
        </p:spPr>
        <p:txBody>
          <a:bodyPr wrap="square" lIns="0" tIns="0" rIns="0" bIns="0" rtlCol="0" anchor="t"/>
          <a:lstStyle/>
          <a:p>
            <a:pPr marL="0" indent="0" algn="ctr">
              <a:buNone/>
            </a:pPr>
            <a:r>
              <a:rPr lang="en-US" sz="1600" dirty="0">
                <a:solidFill>
                  <a:srgbClr val="4A4A4A"/>
                </a:solidFill>
                <a:latin typeface="Times New Roman" pitchFamily="34" charset="0"/>
                <a:ea typeface="Times New Roman" pitchFamily="34" charset="-122"/>
                <a:cs typeface="Times New Roman" pitchFamily="34" charset="-120"/>
              </a:rPr>
              <a:t>Content-based filtering needs no other users’ ratings, and TMDB similar-movie results add candidates beyond the local dataset.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Model Training and Testing</a:t>
            </a:r>
            <a:endParaRPr lang="en-US" sz="3200" dirty="0"/>
          </a:p>
        </p:txBody>
      </p:sp>
      <p:sp>
        <p:nvSpPr>
          <p:cNvPr id="4" name="Text 1"/>
          <p:cNvSpPr txBox="1"/>
          <p:nvPr/>
        </p:nvSpPr>
        <p:spPr>
          <a:xfrm>
            <a:off x="548640" y="1371600"/>
            <a:ext cx="493776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Training (feature fitting)</a:t>
            </a:r>
            <a:endParaRPr lang="en-US" sz="2000" dirty="0"/>
          </a:p>
        </p:txBody>
      </p:sp>
      <p:sp>
        <p:nvSpPr>
          <p:cNvPr id="5" name="Shape 2"/>
          <p:cNvSpPr/>
          <p:nvPr/>
        </p:nvSpPr>
        <p:spPr>
          <a:xfrm>
            <a:off x="548640" y="1874520"/>
            <a:ext cx="4937760" cy="868680"/>
          </a:xfrm>
          <a:prstGeom prst="roundRect">
            <a:avLst>
              <a:gd name="adj" fmla="val 10526"/>
            </a:avLst>
          </a:prstGeom>
          <a:solidFill>
            <a:srgbClr val="FFF0E5"/>
          </a:solidFill>
          <a:ln w="9525">
            <a:solidFill>
              <a:srgbClr val="D0D7E2"/>
            </a:solidFill>
            <a:prstDash val="solid"/>
          </a:ln>
          <a:effectLst>
            <a:outerShdw blurRad="76200" dist="25400" dir="5400000" algn="bl" rotWithShape="0">
              <a:srgbClr val="000000">
                <a:alpha val="12000"/>
              </a:srgbClr>
            </a:outerShdw>
          </a:effectLst>
        </p:spPr>
      </p:sp>
      <p:sp>
        <p:nvSpPr>
          <p:cNvPr id="6" name="Text 3"/>
          <p:cNvSpPr txBox="1"/>
          <p:nvPr/>
        </p:nvSpPr>
        <p:spPr>
          <a:xfrm>
            <a:off x="731520" y="1874520"/>
            <a:ext cx="1371600" cy="86868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Fit</a:t>
            </a:r>
            <a:endParaRPr lang="en-US" sz="1700" dirty="0"/>
          </a:p>
        </p:txBody>
      </p:sp>
      <p:sp>
        <p:nvSpPr>
          <p:cNvPr id="7" name="Text 4"/>
          <p:cNvSpPr txBox="1"/>
          <p:nvPr/>
        </p:nvSpPr>
        <p:spPr>
          <a:xfrm>
            <a:off x="2103120" y="1874520"/>
            <a:ext cx="3291840" cy="868680"/>
          </a:xfrm>
          <a:prstGeom prst="rect">
            <a:avLst/>
          </a:prstGeom>
          <a:noFill/>
          <a:ln/>
        </p:spPr>
        <p:txBody>
          <a:bodyPr wrap="square" lIns="0" tIns="0" rIns="0" bIns="0" rtlCol="0" anchor="ct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TfidfVectorizer on the tags column</a:t>
            </a:r>
            <a:endParaRPr lang="en-US" sz="1500" dirty="0"/>
          </a:p>
        </p:txBody>
      </p:sp>
      <p:sp>
        <p:nvSpPr>
          <p:cNvPr id="8" name="Shape 5"/>
          <p:cNvSpPr/>
          <p:nvPr/>
        </p:nvSpPr>
        <p:spPr>
          <a:xfrm>
            <a:off x="548640" y="2898648"/>
            <a:ext cx="4937760" cy="868680"/>
          </a:xfrm>
          <a:prstGeom prst="roundRect">
            <a:avLst>
              <a:gd name="adj" fmla="val 10526"/>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9" name="Text 6"/>
          <p:cNvSpPr txBox="1"/>
          <p:nvPr/>
        </p:nvSpPr>
        <p:spPr>
          <a:xfrm>
            <a:off x="731520" y="2898648"/>
            <a:ext cx="1371600" cy="86868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Configure</a:t>
            </a:r>
            <a:endParaRPr lang="en-US" sz="1700" dirty="0"/>
          </a:p>
        </p:txBody>
      </p:sp>
      <p:sp>
        <p:nvSpPr>
          <p:cNvPr id="10" name="Text 7"/>
          <p:cNvSpPr txBox="1"/>
          <p:nvPr/>
        </p:nvSpPr>
        <p:spPr>
          <a:xfrm>
            <a:off x="2103120" y="2898648"/>
            <a:ext cx="3291840" cy="868680"/>
          </a:xfrm>
          <a:prstGeom prst="rect">
            <a:avLst/>
          </a:prstGeom>
          <a:noFill/>
          <a:ln/>
        </p:spPr>
        <p:txBody>
          <a:bodyPr wrap="square" lIns="0" tIns="0" rIns="0" bIns="0" rtlCol="0" anchor="ct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5,000 features, English stop words removed</a:t>
            </a:r>
            <a:endParaRPr lang="en-US" sz="1500" dirty="0"/>
          </a:p>
        </p:txBody>
      </p:sp>
      <p:sp>
        <p:nvSpPr>
          <p:cNvPr id="11" name="Shape 8"/>
          <p:cNvSpPr/>
          <p:nvPr/>
        </p:nvSpPr>
        <p:spPr>
          <a:xfrm>
            <a:off x="548640" y="3922776"/>
            <a:ext cx="4937760" cy="868680"/>
          </a:xfrm>
          <a:prstGeom prst="roundRect">
            <a:avLst>
              <a:gd name="adj" fmla="val 10526"/>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2" name="Text 9"/>
          <p:cNvSpPr txBox="1"/>
          <p:nvPr/>
        </p:nvSpPr>
        <p:spPr>
          <a:xfrm>
            <a:off x="731520" y="3922776"/>
            <a:ext cx="1371600" cy="86868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Transform</a:t>
            </a:r>
            <a:endParaRPr lang="en-US" sz="1700" dirty="0"/>
          </a:p>
        </p:txBody>
      </p:sp>
      <p:sp>
        <p:nvSpPr>
          <p:cNvPr id="13" name="Text 10"/>
          <p:cNvSpPr txBox="1"/>
          <p:nvPr/>
        </p:nvSpPr>
        <p:spPr>
          <a:xfrm>
            <a:off x="2103120" y="3922776"/>
            <a:ext cx="3291840" cy="868680"/>
          </a:xfrm>
          <a:prstGeom prst="rect">
            <a:avLst/>
          </a:prstGeom>
          <a:noFill/>
          <a:ln/>
        </p:spPr>
        <p:txBody>
          <a:bodyPr wrap="square" lIns="0" tIns="0" rIns="0" bIns="0" rtlCol="0" anchor="ct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4,803 × 5,000 sparse matrix</a:t>
            </a:r>
            <a:endParaRPr lang="en-US" sz="1500" dirty="0"/>
          </a:p>
        </p:txBody>
      </p:sp>
      <p:sp>
        <p:nvSpPr>
          <p:cNvPr id="14" name="Shape 11"/>
          <p:cNvSpPr/>
          <p:nvPr/>
        </p:nvSpPr>
        <p:spPr>
          <a:xfrm>
            <a:off x="548640" y="4946904"/>
            <a:ext cx="4937760" cy="868680"/>
          </a:xfrm>
          <a:prstGeom prst="roundRect">
            <a:avLst>
              <a:gd name="adj" fmla="val 10526"/>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5" name="Text 12"/>
          <p:cNvSpPr txBox="1"/>
          <p:nvPr/>
        </p:nvSpPr>
        <p:spPr>
          <a:xfrm>
            <a:off x="731520" y="4946904"/>
            <a:ext cx="1371600" cy="868680"/>
          </a:xfrm>
          <a:prstGeom prst="rect">
            <a:avLst/>
          </a:prstGeom>
          <a:noFill/>
          <a:ln/>
        </p:spPr>
        <p:txBody>
          <a:bodyPr wrap="square" lIns="0" tIns="0" rIns="0" bIns="0" rtlCol="0" anchor="ctr"/>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Save</a:t>
            </a:r>
            <a:endParaRPr lang="en-US" sz="1700" dirty="0"/>
          </a:p>
        </p:txBody>
      </p:sp>
      <p:sp>
        <p:nvSpPr>
          <p:cNvPr id="16" name="Text 13"/>
          <p:cNvSpPr txBox="1"/>
          <p:nvPr/>
        </p:nvSpPr>
        <p:spPr>
          <a:xfrm>
            <a:off x="2103120" y="4946904"/>
            <a:ext cx="3291840" cy="868680"/>
          </a:xfrm>
          <a:prstGeom prst="rect">
            <a:avLst/>
          </a:prstGeom>
          <a:noFill/>
          <a:ln/>
        </p:spPr>
        <p:txBody>
          <a:bodyPr wrap="square" lIns="0" tIns="0" rIns="0" bIns="0" rtlCol="0" anchor="ct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movies.pkl, vectorizer and vectors with Pickle</a:t>
            </a:r>
            <a:endParaRPr lang="en-US" sz="1500" dirty="0"/>
          </a:p>
        </p:txBody>
      </p:sp>
      <p:sp>
        <p:nvSpPr>
          <p:cNvPr id="17" name="Text 14"/>
          <p:cNvSpPr txBox="1"/>
          <p:nvPr/>
        </p:nvSpPr>
        <p:spPr>
          <a:xfrm>
            <a:off x="5943600" y="1371600"/>
            <a:ext cx="566928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Testing</a:t>
            </a:r>
            <a:endParaRPr lang="en-US" sz="2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943600" y="1874520"/>
          <a:ext cx="5669280" cy="2898648"/>
        </p:xfrm>
        <a:graphic>
          <a:graphicData uri="http://schemas.openxmlformats.org/drawingml/2006/table">
            <a:tbl>
              <a:tblPr/>
              <a:tblGrid>
                <a:gridCol w="17373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tblGrid>
              <a:tr h="411480">
                <a:tc>
                  <a:txBody>
                    <a:bodyP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Level</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2A5A"/>
                    </a:solidFill>
                  </a:tcPr>
                </a:tc>
                <a:tc>
                  <a:txBody>
                    <a:bodyPr/>
                    <a:lstStyle/>
                    <a:p>
                      <a:pPr marL="0" indent="0">
                        <a:buNone/>
                      </a:pPr>
                      <a:r>
                        <a:rPr lang="en-US" sz="1600" b="1" dirty="0">
                          <a:solidFill>
                            <a:srgbClr val="FFFFFF"/>
                          </a:solidFill>
                          <a:latin typeface="Times New Roman" pitchFamily="34" charset="0"/>
                          <a:ea typeface="Times New Roman" pitchFamily="34" charset="-122"/>
                          <a:cs typeface="Times New Roman" pitchFamily="34" charset="-120"/>
                        </a:rPr>
                        <a:t>What is checked</a:t>
                      </a:r>
                      <a:endParaRPr lang="en-US" sz="16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2A5A"/>
                    </a:solidFill>
                  </a:tcPr>
                </a:tc>
                <a:extLst>
                  <a:ext uri="{0D108BD9-81ED-4DB2-BD59-A6C34878D82A}">
                    <a16:rowId xmlns:a16="http://schemas.microsoft.com/office/drawing/2014/main" val="10000"/>
                  </a:ext>
                </a:extLst>
              </a:tr>
              <a:tr h="621792">
                <a:tc>
                  <a:txBody>
                    <a:bodyPr/>
                    <a:lstStyle/>
                    <a:p>
                      <a:pPr marL="0" indent="0">
                        <a:buNone/>
                      </a:pPr>
                      <a:r>
                        <a:rPr lang="en-US" sz="1500" b="1" dirty="0">
                          <a:solidFill>
                            <a:srgbClr val="1F2A5A"/>
                          </a:solidFill>
                          <a:latin typeface="Times New Roman" pitchFamily="34" charset="0"/>
                          <a:ea typeface="Times New Roman" pitchFamily="34" charset="-122"/>
                          <a:cs typeface="Times New Roman" pitchFamily="34" charset="-120"/>
                        </a:rPr>
                        <a:t>Unit</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Preprocessing, TF-IDF vectorization, cosine similarity</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1"/>
                  </a:ext>
                </a:extLst>
              </a:tr>
              <a:tr h="621792">
                <a:tc>
                  <a:txBody>
                    <a:bodyPr/>
                    <a:lstStyle/>
                    <a:p>
                      <a:pPr marL="0" indent="0">
                        <a:buNone/>
                      </a:pPr>
                      <a:r>
                        <a:rPr lang="en-US" sz="1500" b="1" dirty="0">
                          <a:solidFill>
                            <a:srgbClr val="1F2A5A"/>
                          </a:solidFill>
                          <a:latin typeface="Times New Roman" pitchFamily="34" charset="0"/>
                          <a:ea typeface="Times New Roman" pitchFamily="34" charset="-122"/>
                          <a:cs typeface="Times New Roman" pitchFamily="34" charset="-120"/>
                        </a:rPr>
                        <a:t>Integration</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Streamlit app, recommendation engine, TMDB API</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2"/>
                  </a:ext>
                </a:extLst>
              </a:tr>
              <a:tr h="621792">
                <a:tc>
                  <a:txBody>
                    <a:bodyPr/>
                    <a:lstStyle/>
                    <a:p>
                      <a:pPr marL="0" indent="0">
                        <a:buNone/>
                      </a:pPr>
                      <a:r>
                        <a:rPr lang="en-US" sz="1500" b="1" dirty="0">
                          <a:solidFill>
                            <a:srgbClr val="1F2A5A"/>
                          </a:solidFill>
                          <a:latin typeface="Times New Roman" pitchFamily="34" charset="0"/>
                          <a:ea typeface="Times New Roman" pitchFamily="34" charset="-122"/>
                          <a:cs typeface="Times New Roman" pitchFamily="34" charset="-120"/>
                        </a:rPr>
                        <a:t>Recommendation</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Relevance of suggestions for different titles</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3"/>
                  </a:ext>
                </a:extLst>
              </a:tr>
              <a:tr h="621792">
                <a:tc>
                  <a:txBody>
                    <a:bodyPr/>
                    <a:lstStyle/>
                    <a:p>
                      <a:pPr marL="0" indent="0">
                        <a:buNone/>
                      </a:pPr>
                      <a:r>
                        <a:rPr lang="en-US" sz="1500" b="1" dirty="0">
                          <a:solidFill>
                            <a:srgbClr val="1F2A5A"/>
                          </a:solidFill>
                          <a:latin typeface="Times New Roman" pitchFamily="34" charset="0"/>
                          <a:ea typeface="Times New Roman" pitchFamily="34" charset="-122"/>
                          <a:cs typeface="Times New Roman" pitchFamily="34" charset="-120"/>
                        </a:rPr>
                        <a:t>User interface</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tc>
                  <a:txBody>
                    <a:bodyPr/>
                    <a:lstStyle/>
                    <a:p>
                      <a:pPr marL="0" indent="0">
                        <a:buNone/>
                      </a:pPr>
                      <a:r>
                        <a:rPr lang="en-US" sz="1500" dirty="0">
                          <a:solidFill>
                            <a:srgbClr val="1F1F1F"/>
                          </a:solidFill>
                          <a:latin typeface="Times New Roman" pitchFamily="34" charset="0"/>
                          <a:ea typeface="Times New Roman" pitchFamily="34" charset="-122"/>
                          <a:cs typeface="Times New Roman" pitchFamily="34" charset="-120"/>
                        </a:rPr>
                        <a:t>Search, preference selection, result display</a:t>
                      </a:r>
                      <a:endParaRPr lang="en-US" sz="1500" dirty="0">
                        <a:latin typeface="Times New Roman" charset="0"/>
                        <a:ea typeface="Times New Roman" charset="0"/>
                        <a:cs typeface="Times New Roman" charset="0"/>
                      </a:endParaRPr>
                    </a:p>
                  </a:txBody>
                  <a:tcPr marL="109728" marR="109728" marT="0" marB="0"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2" name="Shape 18"/>
          <p:cNvSpPr/>
          <p:nvPr/>
        </p:nvSpPr>
        <p:spPr>
          <a:xfrm>
            <a:off x="7095308" y="4993713"/>
            <a:ext cx="2743200" cy="1097280"/>
          </a:xfrm>
          <a:prstGeom prst="roundRect">
            <a:avLst>
              <a:gd name="adj" fmla="val 8333"/>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23" name="Text 19"/>
          <p:cNvSpPr txBox="1"/>
          <p:nvPr/>
        </p:nvSpPr>
        <p:spPr>
          <a:xfrm>
            <a:off x="7232468" y="5106924"/>
            <a:ext cx="2468880" cy="548640"/>
          </a:xfrm>
          <a:prstGeom prst="rect">
            <a:avLst/>
          </a:prstGeom>
          <a:noFill/>
          <a:ln/>
        </p:spPr>
        <p:txBody>
          <a:bodyPr wrap="square" lIns="0" tIns="0" rIns="0" bIns="0" rtlCol="0" anchor="ctr"/>
          <a:lstStyle/>
          <a:p>
            <a:pPr marL="0" indent="0" algn="ctr">
              <a:buNone/>
            </a:pPr>
            <a:r>
              <a:rPr lang="en-US" sz="3000" b="1" dirty="0">
                <a:solidFill>
                  <a:srgbClr val="1F2A5A"/>
                </a:solidFill>
                <a:latin typeface="Times New Roman" pitchFamily="34" charset="0"/>
                <a:ea typeface="Times New Roman" pitchFamily="34" charset="-122"/>
                <a:cs typeface="Times New Roman" pitchFamily="34" charset="-120"/>
              </a:rPr>
              <a:t>5</a:t>
            </a:r>
            <a:endParaRPr lang="en-US" sz="3000" dirty="0"/>
          </a:p>
        </p:txBody>
      </p:sp>
      <p:sp>
        <p:nvSpPr>
          <p:cNvPr id="24" name="Text 20"/>
          <p:cNvSpPr txBox="1"/>
          <p:nvPr/>
        </p:nvSpPr>
        <p:spPr>
          <a:xfrm>
            <a:off x="7301048" y="5629874"/>
            <a:ext cx="2468880" cy="395021"/>
          </a:xfrm>
          <a:prstGeom prst="rect">
            <a:avLst/>
          </a:prstGeom>
          <a:noFill/>
          <a:ln/>
        </p:spPr>
        <p:txBody>
          <a:bodyPr wrap="square" lIns="0" tIns="0" rIns="0" bIns="0" rtlCol="0" anchor="t"/>
          <a:lstStyle/>
          <a:p>
            <a:pPr marL="0" indent="0" algn="ctr">
              <a:buNone/>
            </a:pPr>
            <a:r>
              <a:rPr lang="en-US" sz="1400" dirty="0">
                <a:solidFill>
                  <a:srgbClr val="4A4A4A"/>
                </a:solidFill>
                <a:latin typeface="Times New Roman" pitchFamily="34" charset="0"/>
                <a:ea typeface="Times New Roman" pitchFamily="34" charset="-122"/>
                <a:cs typeface="Times New Roman" pitchFamily="34" charset="-120"/>
              </a:rPr>
              <a:t>recommendations at most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Model Evaluation</a:t>
            </a:r>
            <a:endParaRPr lang="en-US" sz="3200" dirty="0"/>
          </a:p>
        </p:txBody>
      </p:sp>
      <p:graphicFrame>
        <p:nvGraphicFramePr>
          <p:cNvPr id="4" name="Chart 0"/>
          <p:cNvGraphicFramePr/>
          <p:nvPr/>
        </p:nvGraphicFramePr>
        <p:xfrm>
          <a:off x="548640" y="1371600"/>
          <a:ext cx="60350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1"/>
          <p:cNvSpPr txBox="1"/>
          <p:nvPr/>
        </p:nvSpPr>
        <p:spPr>
          <a:xfrm>
            <a:off x="6949440" y="1417320"/>
            <a:ext cx="466344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How results were evaluated</a:t>
            </a:r>
            <a:endParaRPr lang="en-US" sz="2000" dirty="0"/>
          </a:p>
        </p:txBody>
      </p:sp>
      <p:sp>
        <p:nvSpPr>
          <p:cNvPr id="6" name="Shape 2"/>
          <p:cNvSpPr/>
          <p:nvPr/>
        </p:nvSpPr>
        <p:spPr>
          <a:xfrm>
            <a:off x="6949440" y="1920240"/>
            <a:ext cx="4663440" cy="896112"/>
          </a:xfrm>
          <a:prstGeom prst="roundRect">
            <a:avLst>
              <a:gd name="adj" fmla="val 10204"/>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7" name="Text 3"/>
          <p:cNvSpPr txBox="1"/>
          <p:nvPr/>
        </p:nvSpPr>
        <p:spPr>
          <a:xfrm>
            <a:off x="7132320" y="1993392"/>
            <a:ext cx="4297680" cy="320040"/>
          </a:xfrm>
          <a:prstGeom prst="rect">
            <a:avLst/>
          </a:prstGeom>
          <a:noFill/>
          <a:ln/>
        </p:spPr>
        <p:txBody>
          <a:bodyPr wrap="square" lIns="0" tIns="0" rIns="0" bIns="0" rtlCol="0" anchor="t"/>
          <a:lstStyle/>
          <a:p>
            <a:pPr marL="0" indent="0">
              <a:buNone/>
            </a:pPr>
            <a:r>
              <a:rPr lang="en-US" sz="1600" b="1" dirty="0">
                <a:solidFill>
                  <a:srgbClr val="1F2A5A"/>
                </a:solidFill>
                <a:latin typeface="Times New Roman" pitchFamily="34" charset="0"/>
                <a:ea typeface="Times New Roman" pitchFamily="34" charset="-122"/>
                <a:cs typeface="Times New Roman" pitchFamily="34" charset="-120"/>
              </a:rPr>
              <a:t>Content relevance</a:t>
            </a:r>
            <a:endParaRPr lang="en-US" sz="1600" dirty="0"/>
          </a:p>
        </p:txBody>
      </p:sp>
      <p:sp>
        <p:nvSpPr>
          <p:cNvPr id="8" name="Text 4"/>
          <p:cNvSpPr txBox="1"/>
          <p:nvPr/>
        </p:nvSpPr>
        <p:spPr>
          <a:xfrm>
            <a:off x="7132320" y="2350008"/>
            <a:ext cx="4297680" cy="41148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Similar genres, keywords, cast and director appear</a:t>
            </a:r>
            <a:endParaRPr lang="en-US" sz="1400" dirty="0"/>
          </a:p>
        </p:txBody>
      </p:sp>
      <p:sp>
        <p:nvSpPr>
          <p:cNvPr id="9" name="Shape 5"/>
          <p:cNvSpPr/>
          <p:nvPr/>
        </p:nvSpPr>
        <p:spPr>
          <a:xfrm>
            <a:off x="6949440" y="2944368"/>
            <a:ext cx="4663440" cy="896112"/>
          </a:xfrm>
          <a:prstGeom prst="roundRect">
            <a:avLst>
              <a:gd name="adj" fmla="val 10204"/>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0" name="Text 6"/>
          <p:cNvSpPr txBox="1"/>
          <p:nvPr/>
        </p:nvSpPr>
        <p:spPr>
          <a:xfrm>
            <a:off x="7132320" y="3017520"/>
            <a:ext cx="4297680" cy="320040"/>
          </a:xfrm>
          <a:prstGeom prst="rect">
            <a:avLst/>
          </a:prstGeom>
          <a:noFill/>
          <a:ln/>
        </p:spPr>
        <p:txBody>
          <a:bodyPr wrap="square" lIns="0" tIns="0" rIns="0" bIns="0" rtlCol="0" anchor="t"/>
          <a:lstStyle/>
          <a:p>
            <a:pPr marL="0" indent="0">
              <a:buNone/>
            </a:pPr>
            <a:r>
              <a:rPr lang="en-US" sz="1600" b="1" dirty="0">
                <a:solidFill>
                  <a:srgbClr val="1F2A5A"/>
                </a:solidFill>
                <a:latin typeface="Times New Roman" pitchFamily="34" charset="0"/>
                <a:ea typeface="Times New Roman" pitchFamily="34" charset="-122"/>
                <a:cs typeface="Times New Roman" pitchFamily="34" charset="-120"/>
              </a:rPr>
              <a:t>Preferences</a:t>
            </a:r>
            <a:endParaRPr lang="en-US" sz="1600" dirty="0"/>
          </a:p>
        </p:txBody>
      </p:sp>
      <p:sp>
        <p:nvSpPr>
          <p:cNvPr id="11" name="Text 7"/>
          <p:cNvSpPr txBox="1"/>
          <p:nvPr/>
        </p:nvSpPr>
        <p:spPr>
          <a:xfrm>
            <a:off x="7132320" y="3374136"/>
            <a:ext cx="4297680" cy="41148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Mood, language, rating and runtime change the ranking</a:t>
            </a:r>
            <a:endParaRPr lang="en-US" sz="1400" dirty="0"/>
          </a:p>
        </p:txBody>
      </p:sp>
      <p:sp>
        <p:nvSpPr>
          <p:cNvPr id="12" name="Shape 8"/>
          <p:cNvSpPr/>
          <p:nvPr/>
        </p:nvSpPr>
        <p:spPr>
          <a:xfrm>
            <a:off x="6949440" y="3968496"/>
            <a:ext cx="4663440" cy="896112"/>
          </a:xfrm>
          <a:prstGeom prst="roundRect">
            <a:avLst>
              <a:gd name="adj" fmla="val 10204"/>
            </a:avLst>
          </a:prstGeom>
          <a:solidFill>
            <a:srgbClr val="F4F6FA"/>
          </a:solidFill>
          <a:ln w="9525">
            <a:solidFill>
              <a:srgbClr val="D0D7E2"/>
            </a:solidFill>
            <a:prstDash val="solid"/>
          </a:ln>
          <a:effectLst>
            <a:outerShdw blurRad="76200" dist="25400" dir="5400000" algn="bl" rotWithShape="0">
              <a:srgbClr val="000000">
                <a:alpha val="12000"/>
              </a:srgbClr>
            </a:outerShdw>
          </a:effectLst>
        </p:spPr>
      </p:sp>
      <p:sp>
        <p:nvSpPr>
          <p:cNvPr id="13" name="Text 9"/>
          <p:cNvSpPr txBox="1"/>
          <p:nvPr/>
        </p:nvSpPr>
        <p:spPr>
          <a:xfrm>
            <a:off x="7132320" y="4041648"/>
            <a:ext cx="4297680" cy="320040"/>
          </a:xfrm>
          <a:prstGeom prst="rect">
            <a:avLst/>
          </a:prstGeom>
          <a:noFill/>
          <a:ln/>
        </p:spPr>
        <p:txBody>
          <a:bodyPr wrap="square" lIns="0" tIns="0" rIns="0" bIns="0" rtlCol="0" anchor="t"/>
          <a:lstStyle/>
          <a:p>
            <a:pPr marL="0" indent="0">
              <a:buNone/>
            </a:pPr>
            <a:r>
              <a:rPr lang="en-US" sz="1600" b="1" dirty="0">
                <a:solidFill>
                  <a:srgbClr val="1F2A5A"/>
                </a:solidFill>
                <a:latin typeface="Times New Roman" pitchFamily="34" charset="0"/>
                <a:ea typeface="Times New Roman" pitchFamily="34" charset="-122"/>
                <a:cs typeface="Times New Roman" pitchFamily="34" charset="-120"/>
              </a:rPr>
              <a:t>Explanations</a:t>
            </a:r>
            <a:endParaRPr lang="en-US" sz="1600" dirty="0"/>
          </a:p>
        </p:txBody>
      </p:sp>
      <p:sp>
        <p:nvSpPr>
          <p:cNvPr id="14" name="Text 10"/>
          <p:cNvSpPr txBox="1"/>
          <p:nvPr/>
        </p:nvSpPr>
        <p:spPr>
          <a:xfrm>
            <a:off x="7132320" y="4398264"/>
            <a:ext cx="4297680" cy="41148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Every result shows a “Why this movie?” reason</a:t>
            </a:r>
            <a:endParaRPr lang="en-US" sz="1400" dirty="0"/>
          </a:p>
        </p:txBody>
      </p:sp>
      <p:sp>
        <p:nvSpPr>
          <p:cNvPr id="15" name="Shape 11"/>
          <p:cNvSpPr/>
          <p:nvPr/>
        </p:nvSpPr>
        <p:spPr>
          <a:xfrm>
            <a:off x="6949440" y="4992624"/>
            <a:ext cx="4663440" cy="896112"/>
          </a:xfrm>
          <a:prstGeom prst="roundRect">
            <a:avLst>
              <a:gd name="adj" fmla="val 10204"/>
            </a:avLst>
          </a:prstGeom>
          <a:solidFill>
            <a:srgbClr val="FFF0E5"/>
          </a:solidFill>
          <a:ln w="9525">
            <a:solidFill>
              <a:srgbClr val="D0D7E2"/>
            </a:solidFill>
            <a:prstDash val="solid"/>
          </a:ln>
          <a:effectLst>
            <a:outerShdw blurRad="76200" dist="25400" dir="5400000" algn="bl" rotWithShape="0">
              <a:srgbClr val="000000">
                <a:alpha val="12000"/>
              </a:srgbClr>
            </a:outerShdw>
          </a:effectLst>
        </p:spPr>
      </p:sp>
      <p:sp>
        <p:nvSpPr>
          <p:cNvPr id="16" name="Text 12"/>
          <p:cNvSpPr txBox="1"/>
          <p:nvPr/>
        </p:nvSpPr>
        <p:spPr>
          <a:xfrm>
            <a:off x="7132320" y="5065776"/>
            <a:ext cx="4297680" cy="320040"/>
          </a:xfrm>
          <a:prstGeom prst="rect">
            <a:avLst/>
          </a:prstGeom>
          <a:noFill/>
          <a:ln/>
        </p:spPr>
        <p:txBody>
          <a:bodyPr wrap="square" lIns="0" tIns="0" rIns="0" bIns="0" rtlCol="0" anchor="t"/>
          <a:lstStyle/>
          <a:p>
            <a:pPr marL="0" indent="0">
              <a:buNone/>
            </a:pPr>
            <a:r>
              <a:rPr lang="en-US" sz="1600" b="1" dirty="0">
                <a:solidFill>
                  <a:srgbClr val="FF6600"/>
                </a:solidFill>
                <a:latin typeface="Times New Roman" pitchFamily="34" charset="0"/>
                <a:ea typeface="Times New Roman" pitchFamily="34" charset="-122"/>
                <a:cs typeface="Times New Roman" pitchFamily="34" charset="-120"/>
              </a:rPr>
              <a:t>Next step</a:t>
            </a:r>
            <a:endParaRPr lang="en-US" sz="1600" dirty="0"/>
          </a:p>
        </p:txBody>
      </p:sp>
      <p:sp>
        <p:nvSpPr>
          <p:cNvPr id="17" name="Text 13"/>
          <p:cNvSpPr txBox="1"/>
          <p:nvPr/>
        </p:nvSpPr>
        <p:spPr>
          <a:xfrm>
            <a:off x="7132320" y="5422392"/>
            <a:ext cx="4297680" cy="41148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Add precision@k and user feedback metrics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Results and Output Screenshots</a:t>
            </a:r>
            <a:endParaRPr lang="en-US" sz="3200" dirty="0"/>
          </a:p>
        </p:txBody>
      </p:sp>
      <p:pic>
        <p:nvPicPr>
          <p:cNvPr id="4" name="Image 0" descr="Fig. 1: Input form with Relaxed mood and recommendations"/>
          <p:cNvPicPr>
            <a:picLocks noChangeAspect="1"/>
          </p:cNvPicPr>
          <p:nvPr/>
        </p:nvPicPr>
        <p:blipFill>
          <a:blip r:embed="rId3"/>
          <a:stretch>
            <a:fillRect/>
          </a:stretch>
        </p:blipFill>
        <p:spPr>
          <a:xfrm>
            <a:off x="548640" y="1463040"/>
            <a:ext cx="5486400" cy="2629978"/>
          </a:xfrm>
          <a:prstGeom prst="rect">
            <a:avLst/>
          </a:prstGeom>
        </p:spPr>
      </p:pic>
      <p:sp>
        <p:nvSpPr>
          <p:cNvPr id="5" name="Text 1"/>
          <p:cNvSpPr txBox="1"/>
          <p:nvPr/>
        </p:nvSpPr>
        <p:spPr>
          <a:xfrm>
            <a:off x="548640" y="4480560"/>
            <a:ext cx="5486400" cy="320040"/>
          </a:xfrm>
          <a:prstGeom prst="rect">
            <a:avLst/>
          </a:prstGeom>
          <a:noFill/>
          <a:ln/>
        </p:spPr>
        <p:txBody>
          <a:bodyPr wrap="square" lIns="0" tIns="0" rIns="0" bIns="0" rtlCol="0" anchor="t"/>
          <a:lstStyle/>
          <a:p>
            <a:pPr marL="0" indent="0" algn="ctr">
              <a:buNone/>
            </a:pPr>
            <a:r>
              <a:rPr lang="en-US" sz="1400" i="1" dirty="0">
                <a:solidFill>
                  <a:srgbClr val="4A4A4A"/>
                </a:solidFill>
                <a:latin typeface="Times New Roman" pitchFamily="34" charset="0"/>
                <a:ea typeface="Times New Roman" pitchFamily="34" charset="-122"/>
                <a:cs typeface="Times New Roman" pitchFamily="34" charset="-120"/>
              </a:rPr>
              <a:t>Fig. 1: Input form with Relaxed mood and recommendations</a:t>
            </a:r>
            <a:endParaRPr lang="en-US" sz="1400" dirty="0"/>
          </a:p>
        </p:txBody>
      </p:sp>
      <p:pic>
        <p:nvPicPr>
          <p:cNvPr id="6" name="Image 1" descr="Fig. 2: Final results with source and “Why this movie?”"/>
          <p:cNvPicPr>
            <a:picLocks noChangeAspect="1"/>
          </p:cNvPicPr>
          <p:nvPr/>
        </p:nvPicPr>
        <p:blipFill>
          <a:blip r:embed="rId4"/>
          <a:stretch>
            <a:fillRect/>
          </a:stretch>
        </p:blipFill>
        <p:spPr>
          <a:xfrm>
            <a:off x="6126480" y="1463040"/>
            <a:ext cx="5486400" cy="2906068"/>
          </a:xfrm>
          <a:prstGeom prst="rect">
            <a:avLst/>
          </a:prstGeom>
        </p:spPr>
      </p:pic>
      <p:sp>
        <p:nvSpPr>
          <p:cNvPr id="7" name="Text 2"/>
          <p:cNvSpPr txBox="1"/>
          <p:nvPr/>
        </p:nvSpPr>
        <p:spPr>
          <a:xfrm>
            <a:off x="6126480" y="4480560"/>
            <a:ext cx="5486400" cy="320040"/>
          </a:xfrm>
          <a:prstGeom prst="rect">
            <a:avLst/>
          </a:prstGeom>
          <a:noFill/>
          <a:ln/>
        </p:spPr>
        <p:txBody>
          <a:bodyPr wrap="square" lIns="0" tIns="0" rIns="0" bIns="0" rtlCol="0" anchor="t"/>
          <a:lstStyle/>
          <a:p>
            <a:pPr marL="0" indent="0" algn="ctr">
              <a:buNone/>
            </a:pPr>
            <a:r>
              <a:rPr lang="en-US" sz="1400" i="1" dirty="0">
                <a:solidFill>
                  <a:srgbClr val="4A4A4A"/>
                </a:solidFill>
                <a:latin typeface="Times New Roman" pitchFamily="34" charset="0"/>
                <a:ea typeface="Times New Roman" pitchFamily="34" charset="-122"/>
                <a:cs typeface="Times New Roman" pitchFamily="34" charset="-120"/>
              </a:rPr>
              <a:t>Fig. 2: Final results with source and “Why this movie?”</a:t>
            </a:r>
            <a:endParaRPr lang="en-US" sz="1400" dirty="0"/>
          </a:p>
        </p:txBody>
      </p:sp>
      <p:sp>
        <p:nvSpPr>
          <p:cNvPr id="8" name="Shape 3"/>
          <p:cNvSpPr/>
          <p:nvPr/>
        </p:nvSpPr>
        <p:spPr>
          <a:xfrm>
            <a:off x="548640" y="5120640"/>
            <a:ext cx="457200" cy="457200"/>
          </a:xfrm>
          <a:prstGeom prst="ellipse">
            <a:avLst/>
          </a:prstGeom>
          <a:solidFill>
            <a:srgbClr val="FF6600"/>
          </a:solidFill>
          <a:ln w="12700">
            <a:solidFill>
              <a:srgbClr val="FFFFFF"/>
            </a:solidFill>
            <a:prstDash val="solid"/>
          </a:ln>
        </p:spPr>
      </p:sp>
      <p:sp>
        <p:nvSpPr>
          <p:cNvPr id="9" name="Text 4"/>
          <p:cNvSpPr txBox="1"/>
          <p:nvPr/>
        </p:nvSpPr>
        <p:spPr>
          <a:xfrm>
            <a:off x="548640" y="5120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1</a:t>
            </a:r>
            <a:endParaRPr lang="en-US" sz="1800" dirty="0"/>
          </a:p>
        </p:txBody>
      </p:sp>
      <p:sp>
        <p:nvSpPr>
          <p:cNvPr id="10" name="Text 5"/>
          <p:cNvSpPr txBox="1"/>
          <p:nvPr/>
        </p:nvSpPr>
        <p:spPr>
          <a:xfrm>
            <a:off x="1143000" y="5056632"/>
            <a:ext cx="2926080" cy="320040"/>
          </a:xfrm>
          <a:prstGeom prst="rect">
            <a:avLst/>
          </a:prstGeom>
          <a:noFill/>
          <a:ln/>
        </p:spPr>
        <p:txBody>
          <a:bodyPr wrap="square" lIns="0" tIns="0" rIns="0" bIns="0" rtlCol="0" anchor="t"/>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Movie + mood</a:t>
            </a:r>
            <a:endParaRPr lang="en-US" sz="1700" dirty="0"/>
          </a:p>
        </p:txBody>
      </p:sp>
      <p:sp>
        <p:nvSpPr>
          <p:cNvPr id="11" name="Text 6"/>
          <p:cNvSpPr txBox="1"/>
          <p:nvPr/>
        </p:nvSpPr>
        <p:spPr>
          <a:xfrm>
            <a:off x="1143000" y="5394960"/>
            <a:ext cx="2926080" cy="5486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Title and mood set the context</a:t>
            </a:r>
            <a:endParaRPr lang="en-US" sz="1400" dirty="0"/>
          </a:p>
        </p:txBody>
      </p:sp>
      <p:sp>
        <p:nvSpPr>
          <p:cNvPr id="12" name="Shape 7"/>
          <p:cNvSpPr/>
          <p:nvPr/>
        </p:nvSpPr>
        <p:spPr>
          <a:xfrm>
            <a:off x="4297680" y="5120640"/>
            <a:ext cx="457200" cy="457200"/>
          </a:xfrm>
          <a:prstGeom prst="ellipse">
            <a:avLst/>
          </a:prstGeom>
          <a:solidFill>
            <a:srgbClr val="FF6600"/>
          </a:solidFill>
          <a:ln w="12700">
            <a:solidFill>
              <a:srgbClr val="FFFFFF"/>
            </a:solidFill>
            <a:prstDash val="solid"/>
          </a:ln>
        </p:spPr>
      </p:sp>
      <p:sp>
        <p:nvSpPr>
          <p:cNvPr id="13" name="Text 8"/>
          <p:cNvSpPr txBox="1"/>
          <p:nvPr/>
        </p:nvSpPr>
        <p:spPr>
          <a:xfrm>
            <a:off x="4297680" y="5120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2</a:t>
            </a:r>
            <a:endParaRPr lang="en-US" sz="1800" dirty="0"/>
          </a:p>
        </p:txBody>
      </p:sp>
      <p:sp>
        <p:nvSpPr>
          <p:cNvPr id="14" name="Text 9"/>
          <p:cNvSpPr txBox="1"/>
          <p:nvPr/>
        </p:nvSpPr>
        <p:spPr>
          <a:xfrm>
            <a:off x="4892040" y="5056632"/>
            <a:ext cx="2926080" cy="320040"/>
          </a:xfrm>
          <a:prstGeom prst="rect">
            <a:avLst/>
          </a:prstGeom>
          <a:noFill/>
          <a:ln/>
        </p:spPr>
        <p:txBody>
          <a:bodyPr wrap="square" lIns="0" tIns="0" rIns="0" bIns="0" rtlCol="0" anchor="t"/>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Ranked list</a:t>
            </a:r>
            <a:endParaRPr lang="en-US" sz="1700" dirty="0"/>
          </a:p>
        </p:txBody>
      </p:sp>
      <p:sp>
        <p:nvSpPr>
          <p:cNvPr id="15" name="Text 10"/>
          <p:cNvSpPr txBox="1"/>
          <p:nvPr/>
        </p:nvSpPr>
        <p:spPr>
          <a:xfrm>
            <a:off x="4892040" y="5394960"/>
            <a:ext cx="2926080" cy="5486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Up to five movies by final score</a:t>
            </a:r>
            <a:endParaRPr lang="en-US" sz="1400" dirty="0"/>
          </a:p>
        </p:txBody>
      </p:sp>
      <p:sp>
        <p:nvSpPr>
          <p:cNvPr id="16" name="Shape 11"/>
          <p:cNvSpPr/>
          <p:nvPr/>
        </p:nvSpPr>
        <p:spPr>
          <a:xfrm>
            <a:off x="8046720" y="5120640"/>
            <a:ext cx="457200" cy="457200"/>
          </a:xfrm>
          <a:prstGeom prst="ellipse">
            <a:avLst/>
          </a:prstGeom>
          <a:solidFill>
            <a:srgbClr val="FF6600"/>
          </a:solidFill>
          <a:ln w="12700">
            <a:solidFill>
              <a:srgbClr val="FFFFFF"/>
            </a:solidFill>
            <a:prstDash val="solid"/>
          </a:ln>
        </p:spPr>
      </p:sp>
      <p:sp>
        <p:nvSpPr>
          <p:cNvPr id="17" name="Text 12"/>
          <p:cNvSpPr txBox="1"/>
          <p:nvPr/>
        </p:nvSpPr>
        <p:spPr>
          <a:xfrm>
            <a:off x="8046720" y="51206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Times New Roman" pitchFamily="34" charset="0"/>
                <a:ea typeface="Times New Roman" pitchFamily="34" charset="-122"/>
                <a:cs typeface="Times New Roman" pitchFamily="34" charset="-120"/>
              </a:rPr>
              <a:t>3</a:t>
            </a:r>
            <a:endParaRPr lang="en-US" sz="1800" dirty="0"/>
          </a:p>
        </p:txBody>
      </p:sp>
      <p:sp>
        <p:nvSpPr>
          <p:cNvPr id="18" name="Text 13"/>
          <p:cNvSpPr txBox="1"/>
          <p:nvPr/>
        </p:nvSpPr>
        <p:spPr>
          <a:xfrm>
            <a:off x="8641080" y="5056632"/>
            <a:ext cx="2926080" cy="320040"/>
          </a:xfrm>
          <a:prstGeom prst="rect">
            <a:avLst/>
          </a:prstGeom>
          <a:noFill/>
          <a:ln/>
        </p:spPr>
        <p:txBody>
          <a:bodyPr wrap="square" lIns="0" tIns="0" rIns="0" bIns="0" rtlCol="0" anchor="t"/>
          <a:lstStyle/>
          <a:p>
            <a:pPr marL="0" indent="0">
              <a:buNone/>
            </a:pPr>
            <a:r>
              <a:rPr lang="en-US" sz="1700" b="1" dirty="0">
                <a:solidFill>
                  <a:srgbClr val="1F2A5A"/>
                </a:solidFill>
                <a:latin typeface="Times New Roman" pitchFamily="34" charset="0"/>
                <a:ea typeface="Times New Roman" pitchFamily="34" charset="-122"/>
                <a:cs typeface="Times New Roman" pitchFamily="34" charset="-120"/>
              </a:rPr>
              <a:t>Reason shown</a:t>
            </a:r>
            <a:endParaRPr lang="en-US" sz="1700" dirty="0"/>
          </a:p>
        </p:txBody>
      </p:sp>
      <p:sp>
        <p:nvSpPr>
          <p:cNvPr id="19" name="Text 14"/>
          <p:cNvSpPr txBox="1"/>
          <p:nvPr/>
        </p:nvSpPr>
        <p:spPr>
          <a:xfrm>
            <a:off x="8641080" y="5394960"/>
            <a:ext cx="2926080" cy="548640"/>
          </a:xfrm>
          <a:prstGeom prst="rect">
            <a:avLst/>
          </a:prstGeom>
          <a:noFill/>
          <a:ln/>
        </p:spPr>
        <p:txBody>
          <a:bodyPr wrap="square" lIns="0" tIns="0" rIns="0" bIns="0" rtlCol="0" anchor="t"/>
          <a:lstStyle/>
          <a:p>
            <a:pPr marL="0" indent="0">
              <a:buNone/>
            </a:pPr>
            <a:r>
              <a:rPr lang="en-US" sz="1400" dirty="0">
                <a:solidFill>
                  <a:srgbClr val="4A4A4A"/>
                </a:solidFill>
                <a:latin typeface="Times New Roman" pitchFamily="34" charset="0"/>
                <a:ea typeface="Times New Roman" pitchFamily="34" charset="-122"/>
                <a:cs typeface="Times New Roman" pitchFamily="34" charset="-120"/>
              </a:rPr>
              <a:t>Source and “Why this movie?” per title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Conclusion and Future Scope</a:t>
            </a:r>
            <a:endParaRPr lang="en-US" sz="3200" dirty="0"/>
          </a:p>
        </p:txBody>
      </p:sp>
      <p:sp>
        <p:nvSpPr>
          <p:cNvPr id="4" name="Shape 1"/>
          <p:cNvSpPr/>
          <p:nvPr/>
        </p:nvSpPr>
        <p:spPr>
          <a:xfrm>
            <a:off x="548640" y="1417320"/>
            <a:ext cx="5394960" cy="4480560"/>
          </a:xfrm>
          <a:prstGeom prst="roundRect">
            <a:avLst>
              <a:gd name="adj" fmla="val 2041"/>
            </a:avLst>
          </a:prstGeom>
          <a:solidFill>
            <a:srgbClr val="FFF0E5"/>
          </a:solidFill>
          <a:ln w="9525">
            <a:solidFill>
              <a:srgbClr val="D0D7E2"/>
            </a:solidFill>
            <a:prstDash val="solid"/>
          </a:ln>
          <a:effectLst>
            <a:outerShdw blurRad="76200" dist="25400" dir="5400000" algn="bl" rotWithShape="0">
              <a:srgbClr val="000000">
                <a:alpha val="12000"/>
              </a:srgbClr>
            </a:outerShdw>
          </a:effectLst>
        </p:spPr>
      </p:sp>
      <p:sp>
        <p:nvSpPr>
          <p:cNvPr id="5" name="Text 2"/>
          <p:cNvSpPr txBox="1"/>
          <p:nvPr/>
        </p:nvSpPr>
        <p:spPr>
          <a:xfrm>
            <a:off x="822960" y="1600200"/>
            <a:ext cx="484632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Conclusion</a:t>
            </a:r>
            <a:endParaRPr lang="en-US" sz="2000" dirty="0"/>
          </a:p>
        </p:txBody>
      </p:sp>
      <p:sp>
        <p:nvSpPr>
          <p:cNvPr id="6" name="Text 3"/>
          <p:cNvSpPr txBox="1"/>
          <p:nvPr/>
        </p:nvSpPr>
        <p:spPr>
          <a:xfrm>
            <a:off x="822960" y="2103120"/>
            <a:ext cx="4937760" cy="3657600"/>
          </a:xfrm>
          <a:prstGeom prst="rect">
            <a:avLst/>
          </a:prstGeom>
          <a:noFill/>
          <a:ln/>
        </p:spPr>
        <p:txBody>
          <a:bodyPr wrap="square" lIns="0" tIns="0" rIns="0" bIns="0" rtlCol="0" anchor="t"/>
          <a:lstStyle/>
          <a:p>
            <a:pPr marL="228600" indent="-228600">
              <a:spcAft>
                <a:spcPts val="800"/>
              </a:spcAft>
              <a:buSzPct val="100000"/>
              <a:buChar char="•"/>
            </a:pPr>
            <a:r>
              <a:rPr lang="en-US" sz="1900" dirty="0">
                <a:solidFill>
                  <a:srgbClr val="1F1F1F"/>
                </a:solidFill>
                <a:ea typeface="Times New Roman" pitchFamily="34" charset="-122"/>
                <a:cs typeface="Times New Roman" pitchFamily="34" charset="-120"/>
              </a:rPr>
              <a:t>Content similarity (TF-IDF + cosine) finds related movies</a:t>
            </a:r>
            <a:endParaRPr lang="en-US" sz="1900" dirty="0"/>
          </a:p>
          <a:p>
            <a:pPr marL="228600" indent="-228600">
              <a:spcAft>
                <a:spcPts val="800"/>
              </a:spcAft>
              <a:buSzPct val="100000"/>
              <a:buChar char="•"/>
            </a:pPr>
            <a:r>
              <a:rPr lang="en-US" sz="1900" dirty="0">
                <a:solidFill>
                  <a:srgbClr val="1F1F1F"/>
                </a:solidFill>
                <a:ea typeface="Times New Roman" pitchFamily="34" charset="-122"/>
                <a:cs typeface="Times New Roman" pitchFamily="34" charset="-120"/>
              </a:rPr>
              <a:t>TMDB search adds candidates beyond the dataset</a:t>
            </a:r>
            <a:endParaRPr lang="en-US" sz="1900" dirty="0"/>
          </a:p>
          <a:p>
            <a:pPr marL="228600" indent="-228600">
              <a:spcAft>
                <a:spcPts val="800"/>
              </a:spcAft>
              <a:buSzPct val="100000"/>
              <a:buChar char="•"/>
            </a:pPr>
            <a:r>
              <a:rPr lang="en-US" sz="1900" dirty="0">
                <a:solidFill>
                  <a:srgbClr val="1F1F1F"/>
                </a:solidFill>
                <a:ea typeface="Times New Roman" pitchFamily="34" charset="-122"/>
                <a:cs typeface="Times New Roman" pitchFamily="34" charset="-120"/>
              </a:rPr>
              <a:t>Mood, language, rating and runtime shape the ranking</a:t>
            </a:r>
            <a:endParaRPr lang="en-US" sz="1900" dirty="0"/>
          </a:p>
          <a:p>
            <a:pPr marL="228600" indent="-228600">
              <a:spcAft>
                <a:spcPts val="800"/>
              </a:spcAft>
              <a:buSzPct val="100000"/>
              <a:buChar char="•"/>
            </a:pPr>
            <a:r>
              <a:rPr lang="en-US" sz="1900" dirty="0">
                <a:solidFill>
                  <a:srgbClr val="1F1F1F"/>
                </a:solidFill>
                <a:ea typeface="Times New Roman" pitchFamily="34" charset="-122"/>
                <a:cs typeface="Times New Roman" pitchFamily="34" charset="-120"/>
              </a:rPr>
              <a:t>Every pick has a “Why this movie?” explanation</a:t>
            </a:r>
          </a:p>
          <a:p>
            <a:pPr marL="228600" indent="-228600">
              <a:spcAft>
                <a:spcPts val="800"/>
              </a:spcAft>
              <a:buSzPct val="100000"/>
              <a:buChar char="•"/>
            </a:pPr>
            <a:r>
              <a:rPr lang="en-IN" sz="1900" dirty="0"/>
              <a:t>Simple </a:t>
            </a:r>
            <a:r>
              <a:rPr lang="en-IN" sz="1900" dirty="0" err="1"/>
              <a:t>streamlit</a:t>
            </a:r>
            <a:r>
              <a:rPr lang="en-IN" sz="1900" dirty="0"/>
              <a:t> prototype evaluated through functional and recommendation testing.</a:t>
            </a:r>
            <a:endParaRPr lang="en-US" sz="1900" dirty="0"/>
          </a:p>
        </p:txBody>
      </p:sp>
      <p:sp>
        <p:nvSpPr>
          <p:cNvPr id="7" name="Text 4"/>
          <p:cNvSpPr txBox="1"/>
          <p:nvPr/>
        </p:nvSpPr>
        <p:spPr>
          <a:xfrm>
            <a:off x="6400800" y="1417320"/>
            <a:ext cx="5212080" cy="365760"/>
          </a:xfrm>
          <a:prstGeom prst="rect">
            <a:avLst/>
          </a:prstGeom>
          <a:noFill/>
          <a:ln/>
        </p:spPr>
        <p:txBody>
          <a:bodyPr wrap="square" lIns="0" tIns="0" rIns="0" bIns="0" rtlCol="0" anchor="t"/>
          <a:lstStyle/>
          <a:p>
            <a:pPr marL="0" indent="0">
              <a:buNone/>
            </a:pPr>
            <a:r>
              <a:rPr lang="en-US" sz="2000" b="1" dirty="0">
                <a:solidFill>
                  <a:srgbClr val="1F2A5A"/>
                </a:solidFill>
                <a:latin typeface="Times New Roman" pitchFamily="34" charset="0"/>
                <a:ea typeface="Times New Roman" pitchFamily="34" charset="-122"/>
                <a:cs typeface="Times New Roman" pitchFamily="34" charset="-120"/>
              </a:rPr>
              <a:t>Future Scope</a:t>
            </a:r>
            <a:endParaRPr lang="en-US" sz="2000" dirty="0"/>
          </a:p>
        </p:txBody>
      </p:sp>
      <p:sp>
        <p:nvSpPr>
          <p:cNvPr id="8" name="Shape 5"/>
          <p:cNvSpPr/>
          <p:nvPr/>
        </p:nvSpPr>
        <p:spPr>
          <a:xfrm>
            <a:off x="6400800" y="1965960"/>
            <a:ext cx="777240" cy="777240"/>
          </a:xfrm>
          <a:prstGeom prst="ellipse">
            <a:avLst/>
          </a:prstGeom>
          <a:solidFill>
            <a:srgbClr val="1F2A5A"/>
          </a:solidFill>
          <a:ln w="12700">
            <a:solidFill>
              <a:srgbClr val="1F2A5A"/>
            </a:solidFill>
            <a:prstDash val="solid"/>
          </a:ln>
        </p:spPr>
      </p:sp>
      <p:pic>
        <p:nvPicPr>
          <p:cNvPr id="9" name="Image 0" descr="icons/LuBrain.png"/>
          <p:cNvPicPr>
            <a:picLocks noChangeAspect="1"/>
          </p:cNvPicPr>
          <p:nvPr/>
        </p:nvPicPr>
        <p:blipFill>
          <a:blip r:embed="rId3"/>
          <a:stretch>
            <a:fillRect/>
          </a:stretch>
        </p:blipFill>
        <p:spPr>
          <a:xfrm>
            <a:off x="6595110" y="2160270"/>
            <a:ext cx="388620" cy="388620"/>
          </a:xfrm>
          <a:prstGeom prst="rect">
            <a:avLst/>
          </a:prstGeom>
        </p:spPr>
      </p:pic>
      <p:sp>
        <p:nvSpPr>
          <p:cNvPr id="10" name="Text 6"/>
          <p:cNvSpPr txBox="1"/>
          <p:nvPr/>
        </p:nvSpPr>
        <p:spPr>
          <a:xfrm>
            <a:off x="7360920" y="1984248"/>
            <a:ext cx="4206240" cy="365760"/>
          </a:xfrm>
          <a:prstGeom prst="rect">
            <a:avLst/>
          </a:prstGeom>
          <a:noFill/>
          <a:ln/>
        </p:spPr>
        <p:txBody>
          <a:bodyPr wrap="square" lIns="0" tIns="0" rIns="0" bIns="0" rtlCol="0" anchor="t"/>
          <a:lstStyle/>
          <a:p>
            <a:pPr marL="0" indent="0">
              <a:buNone/>
            </a:pPr>
            <a:r>
              <a:rPr lang="en-US" sz="1800" b="1" dirty="0">
                <a:solidFill>
                  <a:srgbClr val="1F2A5A"/>
                </a:solidFill>
                <a:latin typeface="Times New Roman" pitchFamily="34" charset="0"/>
                <a:ea typeface="Times New Roman" pitchFamily="34" charset="-122"/>
                <a:cs typeface="Times New Roman" pitchFamily="34" charset="-120"/>
              </a:rPr>
              <a:t>Semantic embeddings</a:t>
            </a:r>
            <a:endParaRPr lang="en-US" sz="1800" dirty="0"/>
          </a:p>
        </p:txBody>
      </p:sp>
      <p:sp>
        <p:nvSpPr>
          <p:cNvPr id="11" name="Text 7"/>
          <p:cNvSpPr txBox="1"/>
          <p:nvPr/>
        </p:nvSpPr>
        <p:spPr>
          <a:xfrm>
            <a:off x="7360920" y="2368296"/>
            <a:ext cx="4206240" cy="365760"/>
          </a:xfrm>
          <a:prstGeom prst="rect">
            <a:avLst/>
          </a:prstGeom>
          <a:noFill/>
          <a:ln/>
        </p:spPr>
        <p:txBody>
          <a:bodyPr wrap="square" lIns="0" tIns="0" rIns="0" bIns="0" rtlCol="0" anchor="t"/>
          <a:lstStyle/>
          <a:p>
            <a:pPr marL="0" indent="0">
              <a:buNone/>
            </a:pPr>
            <a:r>
              <a:rPr lang="en-US" sz="1600" dirty="0">
                <a:solidFill>
                  <a:srgbClr val="4A4A4A"/>
                </a:solidFill>
                <a:latin typeface="Times New Roman" pitchFamily="34" charset="0"/>
                <a:ea typeface="Times New Roman" pitchFamily="34" charset="-122"/>
                <a:cs typeface="Times New Roman" pitchFamily="34" charset="-120"/>
              </a:rPr>
              <a:t>Similarity beyond matching words</a:t>
            </a:r>
            <a:endParaRPr lang="en-US" sz="1600" dirty="0"/>
          </a:p>
        </p:txBody>
      </p:sp>
      <p:sp>
        <p:nvSpPr>
          <p:cNvPr id="12" name="Shape 8"/>
          <p:cNvSpPr/>
          <p:nvPr/>
        </p:nvSpPr>
        <p:spPr>
          <a:xfrm>
            <a:off x="6400800" y="2990088"/>
            <a:ext cx="777240" cy="777240"/>
          </a:xfrm>
          <a:prstGeom prst="ellipse">
            <a:avLst/>
          </a:prstGeom>
          <a:solidFill>
            <a:srgbClr val="FF6600"/>
          </a:solidFill>
          <a:ln w="12700">
            <a:solidFill>
              <a:srgbClr val="FF6600"/>
            </a:solidFill>
            <a:prstDash val="solid"/>
          </a:ln>
        </p:spPr>
      </p:sp>
      <p:pic>
        <p:nvPicPr>
          <p:cNvPr id="13" name="Image 1" descr="icons/LuUsers.png"/>
          <p:cNvPicPr>
            <a:picLocks noChangeAspect="1"/>
          </p:cNvPicPr>
          <p:nvPr/>
        </p:nvPicPr>
        <p:blipFill>
          <a:blip r:embed="rId4"/>
          <a:stretch>
            <a:fillRect/>
          </a:stretch>
        </p:blipFill>
        <p:spPr>
          <a:xfrm>
            <a:off x="6595110" y="3184398"/>
            <a:ext cx="388620" cy="388620"/>
          </a:xfrm>
          <a:prstGeom prst="rect">
            <a:avLst/>
          </a:prstGeom>
        </p:spPr>
      </p:pic>
      <p:sp>
        <p:nvSpPr>
          <p:cNvPr id="14" name="Text 9"/>
          <p:cNvSpPr txBox="1"/>
          <p:nvPr/>
        </p:nvSpPr>
        <p:spPr>
          <a:xfrm>
            <a:off x="7360920" y="3008376"/>
            <a:ext cx="4206240" cy="365760"/>
          </a:xfrm>
          <a:prstGeom prst="rect">
            <a:avLst/>
          </a:prstGeom>
          <a:noFill/>
          <a:ln/>
        </p:spPr>
        <p:txBody>
          <a:bodyPr wrap="square" lIns="0" tIns="0" rIns="0" bIns="0" rtlCol="0" anchor="t"/>
          <a:lstStyle/>
          <a:p>
            <a:pPr marL="0" indent="0">
              <a:buNone/>
            </a:pPr>
            <a:r>
              <a:rPr lang="en-US" sz="1800" b="1" dirty="0">
                <a:solidFill>
                  <a:srgbClr val="1F2A5A"/>
                </a:solidFill>
                <a:latin typeface="Times New Roman" pitchFamily="34" charset="0"/>
                <a:ea typeface="Times New Roman" pitchFamily="34" charset="-122"/>
                <a:cs typeface="Times New Roman" pitchFamily="34" charset="-120"/>
              </a:rPr>
              <a:t>Collaborative filtering</a:t>
            </a:r>
            <a:endParaRPr lang="en-US" sz="1800" dirty="0"/>
          </a:p>
        </p:txBody>
      </p:sp>
      <p:sp>
        <p:nvSpPr>
          <p:cNvPr id="15" name="Text 10"/>
          <p:cNvSpPr txBox="1"/>
          <p:nvPr/>
        </p:nvSpPr>
        <p:spPr>
          <a:xfrm>
            <a:off x="7360920" y="3392424"/>
            <a:ext cx="4206240" cy="365760"/>
          </a:xfrm>
          <a:prstGeom prst="rect">
            <a:avLst/>
          </a:prstGeom>
          <a:noFill/>
          <a:ln/>
        </p:spPr>
        <p:txBody>
          <a:bodyPr wrap="square" lIns="0" tIns="0" rIns="0" bIns="0" rtlCol="0" anchor="t"/>
          <a:lstStyle/>
          <a:p>
            <a:pPr marL="0" indent="0">
              <a:buNone/>
            </a:pPr>
            <a:r>
              <a:rPr lang="en-US" sz="1600" dirty="0">
                <a:solidFill>
                  <a:srgbClr val="4A4A4A"/>
                </a:solidFill>
                <a:latin typeface="Times New Roman" pitchFamily="34" charset="0"/>
                <a:ea typeface="Times New Roman" pitchFamily="34" charset="-122"/>
                <a:cs typeface="Times New Roman" pitchFamily="34" charset="-120"/>
              </a:rPr>
              <a:t>User ratings and viewing history</a:t>
            </a:r>
            <a:endParaRPr lang="en-US" sz="1600" dirty="0"/>
          </a:p>
        </p:txBody>
      </p:sp>
      <p:sp>
        <p:nvSpPr>
          <p:cNvPr id="16" name="Shape 11"/>
          <p:cNvSpPr/>
          <p:nvPr/>
        </p:nvSpPr>
        <p:spPr>
          <a:xfrm>
            <a:off x="6400800" y="4014216"/>
            <a:ext cx="777240" cy="777240"/>
          </a:xfrm>
          <a:prstGeom prst="ellipse">
            <a:avLst/>
          </a:prstGeom>
          <a:solidFill>
            <a:srgbClr val="1F2A5A"/>
          </a:solidFill>
          <a:ln w="12700">
            <a:solidFill>
              <a:srgbClr val="1F2A5A"/>
            </a:solidFill>
            <a:prstDash val="solid"/>
          </a:ln>
        </p:spPr>
      </p:sp>
      <p:pic>
        <p:nvPicPr>
          <p:cNvPr id="17" name="Image 2" descr="icons/LuThumbsUp.png"/>
          <p:cNvPicPr>
            <a:picLocks noChangeAspect="1"/>
          </p:cNvPicPr>
          <p:nvPr/>
        </p:nvPicPr>
        <p:blipFill>
          <a:blip r:embed="rId5"/>
          <a:stretch>
            <a:fillRect/>
          </a:stretch>
        </p:blipFill>
        <p:spPr>
          <a:xfrm>
            <a:off x="6595110" y="4208526"/>
            <a:ext cx="388620" cy="388620"/>
          </a:xfrm>
          <a:prstGeom prst="rect">
            <a:avLst/>
          </a:prstGeom>
        </p:spPr>
      </p:pic>
      <p:sp>
        <p:nvSpPr>
          <p:cNvPr id="18" name="Text 12"/>
          <p:cNvSpPr txBox="1"/>
          <p:nvPr/>
        </p:nvSpPr>
        <p:spPr>
          <a:xfrm>
            <a:off x="7360920" y="4032504"/>
            <a:ext cx="4206240" cy="365760"/>
          </a:xfrm>
          <a:prstGeom prst="rect">
            <a:avLst/>
          </a:prstGeom>
          <a:noFill/>
          <a:ln/>
        </p:spPr>
        <p:txBody>
          <a:bodyPr wrap="square" lIns="0" tIns="0" rIns="0" bIns="0" rtlCol="0" anchor="t"/>
          <a:lstStyle/>
          <a:p>
            <a:pPr marL="0" indent="0">
              <a:buNone/>
            </a:pPr>
            <a:r>
              <a:rPr lang="en-US" sz="1800" b="1" dirty="0">
                <a:solidFill>
                  <a:srgbClr val="1F2A5A"/>
                </a:solidFill>
                <a:latin typeface="Times New Roman" pitchFamily="34" charset="0"/>
                <a:ea typeface="Times New Roman" pitchFamily="34" charset="-122"/>
                <a:cs typeface="Times New Roman" pitchFamily="34" charset="-120"/>
              </a:rPr>
              <a:t>Feedback learning</a:t>
            </a:r>
            <a:endParaRPr lang="en-US" sz="1800" dirty="0"/>
          </a:p>
        </p:txBody>
      </p:sp>
      <p:sp>
        <p:nvSpPr>
          <p:cNvPr id="19" name="Text 13"/>
          <p:cNvSpPr txBox="1"/>
          <p:nvPr/>
        </p:nvSpPr>
        <p:spPr>
          <a:xfrm>
            <a:off x="7360920" y="4416552"/>
            <a:ext cx="4206240" cy="365760"/>
          </a:xfrm>
          <a:prstGeom prst="rect">
            <a:avLst/>
          </a:prstGeom>
          <a:noFill/>
          <a:ln/>
        </p:spPr>
        <p:txBody>
          <a:bodyPr wrap="square" lIns="0" tIns="0" rIns="0" bIns="0" rtlCol="0" anchor="t"/>
          <a:lstStyle/>
          <a:p>
            <a:pPr marL="0" indent="0">
              <a:buNone/>
            </a:pPr>
            <a:r>
              <a:rPr lang="en-US" sz="1600" dirty="0">
                <a:solidFill>
                  <a:srgbClr val="4A4A4A"/>
                </a:solidFill>
                <a:latin typeface="Times New Roman" pitchFamily="34" charset="0"/>
                <a:ea typeface="Times New Roman" pitchFamily="34" charset="-122"/>
                <a:cs typeface="Times New Roman" pitchFamily="34" charset="-120"/>
              </a:rPr>
              <a:t>Improve from likes and dislikes</a:t>
            </a:r>
            <a:endParaRPr lang="en-US" sz="1600" dirty="0"/>
          </a:p>
        </p:txBody>
      </p:sp>
      <p:sp>
        <p:nvSpPr>
          <p:cNvPr id="20" name="Shape 14"/>
          <p:cNvSpPr/>
          <p:nvPr/>
        </p:nvSpPr>
        <p:spPr>
          <a:xfrm>
            <a:off x="6400800" y="5038344"/>
            <a:ext cx="777240" cy="777240"/>
          </a:xfrm>
          <a:prstGeom prst="ellipse">
            <a:avLst/>
          </a:prstGeom>
          <a:solidFill>
            <a:srgbClr val="FF6600"/>
          </a:solidFill>
          <a:ln w="12700">
            <a:solidFill>
              <a:srgbClr val="FF6600"/>
            </a:solidFill>
            <a:prstDash val="solid"/>
          </a:ln>
        </p:spPr>
      </p:sp>
      <p:pic>
        <p:nvPicPr>
          <p:cNvPr id="21" name="Image 3" descr="icons/LuBookmark.png"/>
          <p:cNvPicPr>
            <a:picLocks noChangeAspect="1"/>
          </p:cNvPicPr>
          <p:nvPr/>
        </p:nvPicPr>
        <p:blipFill>
          <a:blip r:embed="rId6"/>
          <a:stretch>
            <a:fillRect/>
          </a:stretch>
        </p:blipFill>
        <p:spPr>
          <a:xfrm>
            <a:off x="6595110" y="5232654"/>
            <a:ext cx="388620" cy="388620"/>
          </a:xfrm>
          <a:prstGeom prst="rect">
            <a:avLst/>
          </a:prstGeom>
        </p:spPr>
      </p:pic>
      <p:sp>
        <p:nvSpPr>
          <p:cNvPr id="22" name="Text 15"/>
          <p:cNvSpPr txBox="1"/>
          <p:nvPr/>
        </p:nvSpPr>
        <p:spPr>
          <a:xfrm>
            <a:off x="7360920" y="5056632"/>
            <a:ext cx="4206240" cy="365760"/>
          </a:xfrm>
          <a:prstGeom prst="rect">
            <a:avLst/>
          </a:prstGeom>
          <a:noFill/>
          <a:ln/>
        </p:spPr>
        <p:txBody>
          <a:bodyPr wrap="square" lIns="0" tIns="0" rIns="0" bIns="0" rtlCol="0" anchor="t"/>
          <a:lstStyle/>
          <a:p>
            <a:pPr marL="0" indent="0">
              <a:buNone/>
            </a:pPr>
            <a:r>
              <a:rPr lang="en-US" sz="1800" b="1" dirty="0">
                <a:solidFill>
                  <a:srgbClr val="1F2A5A"/>
                </a:solidFill>
                <a:latin typeface="Times New Roman" pitchFamily="34" charset="0"/>
                <a:ea typeface="Times New Roman" pitchFamily="34" charset="-122"/>
                <a:cs typeface="Times New Roman" pitchFamily="34" charset="-120"/>
              </a:rPr>
              <a:t>Richer interface</a:t>
            </a:r>
            <a:endParaRPr lang="en-US" sz="1800" dirty="0"/>
          </a:p>
        </p:txBody>
      </p:sp>
      <p:sp>
        <p:nvSpPr>
          <p:cNvPr id="23" name="Text 16"/>
          <p:cNvSpPr txBox="1"/>
          <p:nvPr/>
        </p:nvSpPr>
        <p:spPr>
          <a:xfrm>
            <a:off x="7360920" y="5440680"/>
            <a:ext cx="4206240" cy="365760"/>
          </a:xfrm>
          <a:prstGeom prst="rect">
            <a:avLst/>
          </a:prstGeom>
          <a:noFill/>
          <a:ln/>
        </p:spPr>
        <p:txBody>
          <a:bodyPr wrap="square" lIns="0" tIns="0" rIns="0" bIns="0" rtlCol="0" anchor="t"/>
          <a:lstStyle/>
          <a:p>
            <a:pPr marL="0" indent="0">
              <a:buNone/>
            </a:pPr>
            <a:r>
              <a:rPr lang="en-US" sz="1600" dirty="0">
                <a:solidFill>
                  <a:srgbClr val="4A4A4A"/>
                </a:solidFill>
                <a:latin typeface="Times New Roman" pitchFamily="34" charset="0"/>
                <a:ea typeface="Times New Roman" pitchFamily="34" charset="-122"/>
                <a:cs typeface="Times New Roman" pitchFamily="34" charset="-120"/>
              </a:rPr>
              <a:t>Watchlists, posters, details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8686800" cy="731520"/>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References</a:t>
            </a:r>
            <a:endParaRPr lang="en-US" sz="3200" dirty="0"/>
          </a:p>
        </p:txBody>
      </p:sp>
      <p:sp>
        <p:nvSpPr>
          <p:cNvPr id="4" name="Text 1"/>
          <p:cNvSpPr txBox="1"/>
          <p:nvPr/>
        </p:nvSpPr>
        <p:spPr>
          <a:xfrm>
            <a:off x="548640" y="1463040"/>
            <a:ext cx="11064240" cy="4754880"/>
          </a:xfrm>
          <a:prstGeom prst="rect">
            <a:avLst/>
          </a:prstGeom>
          <a:noFill/>
          <a:ln/>
        </p:spPr>
        <p:txBody>
          <a:bodyPr wrap="square" lIns="0" tIns="0" rIns="0" bIns="0" rtlCol="0" anchor="t"/>
          <a:lstStyle/>
          <a:p>
            <a:pPr marL="0" indent="0">
              <a:spcAft>
                <a:spcPts val="1000"/>
              </a:spcAft>
              <a:buNone/>
            </a:pPr>
            <a:r>
              <a:rPr lang="en-US" sz="1700" dirty="0">
                <a:solidFill>
                  <a:srgbClr val="1F1F1F"/>
                </a:solidFill>
                <a:latin typeface="Times New Roman" pitchFamily="34" charset="0"/>
                <a:ea typeface="Times New Roman" pitchFamily="34" charset="-122"/>
                <a:cs typeface="Times New Roman" pitchFamily="34" charset="-120"/>
              </a:rPr>
              <a:t>[1]  F. Pedregosa et al., “Scikit-learn: Machine Learning in Python,” JMLR, vol. 12, pp. 2825–2830, 2011.</a:t>
            </a:r>
            <a:endParaRPr lang="en-US" sz="1700" dirty="0"/>
          </a:p>
          <a:p>
            <a:pPr marL="0" indent="0">
              <a:spcAft>
                <a:spcPts val="1000"/>
              </a:spcAft>
              <a:buNone/>
            </a:pPr>
            <a:r>
              <a:rPr lang="en-US" sz="1700" dirty="0">
                <a:solidFill>
                  <a:srgbClr val="1F1F1F"/>
                </a:solidFill>
                <a:latin typeface="Times New Roman" pitchFamily="34" charset="0"/>
                <a:ea typeface="Times New Roman" pitchFamily="34" charset="-122"/>
                <a:cs typeface="Times New Roman" pitchFamily="34" charset="-120"/>
              </a:rPr>
              <a:t>[2]  G. Salton and C. Buckley, “Term-weighting approaches in automatic text retrieval,” Inf. Process. Manag., vol. 24, no. 5, 1988.</a:t>
            </a:r>
            <a:endParaRPr lang="en-US" sz="1700" dirty="0"/>
          </a:p>
          <a:p>
            <a:pPr marL="0" indent="0">
              <a:spcAft>
                <a:spcPts val="1000"/>
              </a:spcAft>
              <a:buNone/>
            </a:pPr>
            <a:r>
              <a:rPr lang="en-US" sz="1700" dirty="0">
                <a:solidFill>
                  <a:srgbClr val="1F1F1F"/>
                </a:solidFill>
                <a:latin typeface="Times New Roman" pitchFamily="34" charset="0"/>
                <a:ea typeface="Times New Roman" pitchFamily="34" charset="-122"/>
                <a:cs typeface="Times New Roman" pitchFamily="34" charset="-120"/>
              </a:rPr>
              <a:t>[3]  C. D. Manning, P. Raghavan and H. Schütze, Introduction to Information Retrieval, Cambridge University Press, 2008.</a:t>
            </a:r>
            <a:endParaRPr lang="en-US" sz="1700" dirty="0"/>
          </a:p>
          <a:p>
            <a:pPr marL="0" indent="0">
              <a:spcAft>
                <a:spcPts val="1000"/>
              </a:spcAft>
              <a:buNone/>
            </a:pPr>
            <a:r>
              <a:rPr lang="en-US" sz="1700" dirty="0">
                <a:solidFill>
                  <a:srgbClr val="1F1F1F"/>
                </a:solidFill>
                <a:latin typeface="Times New Roman" pitchFamily="34" charset="0"/>
                <a:ea typeface="Times New Roman" pitchFamily="34" charset="-122"/>
                <a:cs typeface="Times New Roman" pitchFamily="34" charset="-120"/>
              </a:rPr>
              <a:t>[4]  P. Resnick and H. R. Varian, “Recommender Systems,” Communications of the ACM, vol. 40, no. 3, 1997.</a:t>
            </a:r>
            <a:endParaRPr lang="en-US" sz="1700" dirty="0"/>
          </a:p>
          <a:p>
            <a:pPr marL="0" indent="0">
              <a:spcAft>
                <a:spcPts val="1000"/>
              </a:spcAft>
              <a:buNone/>
            </a:pPr>
            <a:r>
              <a:rPr lang="en-US" sz="1700" dirty="0">
                <a:solidFill>
                  <a:srgbClr val="1F1F1F"/>
                </a:solidFill>
                <a:latin typeface="Times New Roman" pitchFamily="34" charset="0"/>
                <a:ea typeface="Times New Roman" pitchFamily="34" charset="-122"/>
                <a:cs typeface="Times New Roman" pitchFamily="34" charset="-120"/>
              </a:rPr>
              <a:t>[5]  J. B. Schafer et al., “Collaborative Filtering Recommender Systems,” in The Adaptive Web, Springer, 2007.</a:t>
            </a:r>
            <a:endParaRPr lang="en-US" sz="1700" dirty="0"/>
          </a:p>
          <a:p>
            <a:pPr marL="0" indent="0">
              <a:spcAft>
                <a:spcPts val="1000"/>
              </a:spcAft>
              <a:buNone/>
            </a:pPr>
            <a:r>
              <a:rPr lang="en-US" sz="1700" dirty="0">
                <a:solidFill>
                  <a:srgbClr val="1F1F1F"/>
                </a:solidFill>
                <a:latin typeface="Times New Roman" pitchFamily="34" charset="0"/>
                <a:ea typeface="Times New Roman" pitchFamily="34" charset="-122"/>
                <a:cs typeface="Times New Roman" pitchFamily="34" charset="-120"/>
              </a:rPr>
              <a:t>[6]  TMDB 5000 Movies and Credits datasets; TMDB API documentation, developer.themoviedb.org/docs</a:t>
            </a:r>
            <a:endParaRPr lang="en-US" sz="1700" dirty="0"/>
          </a:p>
          <a:p>
            <a:pPr marL="0" indent="0">
              <a:spcAft>
                <a:spcPts val="1000"/>
              </a:spcAft>
              <a:buNone/>
            </a:pPr>
            <a:r>
              <a:rPr lang="en-US" sz="1700" dirty="0">
                <a:solidFill>
                  <a:srgbClr val="1F1F1F"/>
                </a:solidFill>
                <a:latin typeface="Times New Roman" pitchFamily="34" charset="0"/>
                <a:ea typeface="Times New Roman" pitchFamily="34" charset="-122"/>
                <a:cs typeface="Times New Roman" pitchFamily="34" charset="-120"/>
              </a:rPr>
              <a:t>[7]  Streamlit documentation, docs.streamlit.io</a:t>
            </a:r>
            <a:endParaRPr lang="en-US" sz="1700" dirty="0"/>
          </a:p>
          <a:p>
            <a:pPr marL="0" indent="0">
              <a:spcAft>
                <a:spcPts val="1000"/>
              </a:spcAft>
              <a:buNone/>
            </a:pPr>
            <a:r>
              <a:rPr lang="en-US" sz="1700" dirty="0">
                <a:solidFill>
                  <a:srgbClr val="1F1F1F"/>
                </a:solidFill>
                <a:latin typeface="Times New Roman" pitchFamily="34" charset="0"/>
                <a:ea typeface="Times New Roman" pitchFamily="34" charset="-122"/>
                <a:cs typeface="Times New Roman" pitchFamily="34" charset="-120"/>
              </a:rPr>
              <a:t>[8]  Pandas and NumPy documentation, pandas.pydata.org/docs and numpy.org/doc</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5656217" cy="343989"/>
          </a:xfrm>
          <a:prstGeom prst="rect">
            <a:avLst/>
          </a:prstGeom>
          <a:noFill/>
          <a:ln/>
        </p:spPr>
        <p:txBody>
          <a:bodyPr wrap="square" lIns="0" tIns="0" rIns="0" bIns="0" rtlCol="0" anchor="ctr"/>
          <a:lstStyle/>
          <a:p>
            <a:pPr marL="0" indent="0" algn="l">
              <a:buNone/>
            </a:pPr>
            <a:r>
              <a:rPr lang="en-US" sz="3200" b="1" dirty="0">
                <a:solidFill>
                  <a:srgbClr val="FF6600"/>
                </a:solidFill>
                <a:latin typeface="Times New Roman" pitchFamily="34" charset="0"/>
                <a:ea typeface="Times New Roman" pitchFamily="34" charset="-122"/>
                <a:cs typeface="Times New Roman" pitchFamily="34" charset="-120"/>
              </a:rPr>
              <a:t>Questions and Discussion</a:t>
            </a:r>
            <a:endParaRPr lang="en-US" sz="3200" dirty="0"/>
          </a:p>
        </p:txBody>
      </p:sp>
      <p:sp>
        <p:nvSpPr>
          <p:cNvPr id="4" name="Text 1"/>
          <p:cNvSpPr txBox="1"/>
          <p:nvPr/>
        </p:nvSpPr>
        <p:spPr>
          <a:xfrm>
            <a:off x="914400" y="2194560"/>
            <a:ext cx="10360152" cy="1188720"/>
          </a:xfrm>
          <a:prstGeom prst="rect">
            <a:avLst/>
          </a:prstGeom>
          <a:noFill/>
          <a:ln/>
        </p:spPr>
        <p:txBody>
          <a:bodyPr wrap="square" lIns="0" tIns="0" rIns="0" bIns="0" rtlCol="0" anchor="ctr"/>
          <a:lstStyle/>
          <a:p>
            <a:pPr marL="0" indent="0" algn="ctr">
              <a:buNone/>
            </a:pPr>
            <a:r>
              <a:rPr lang="en-US" sz="6000" b="1" dirty="0">
                <a:solidFill>
                  <a:srgbClr val="FF6600"/>
                </a:solidFill>
                <a:latin typeface="Times New Roman" pitchFamily="34" charset="0"/>
                <a:ea typeface="Times New Roman" pitchFamily="34" charset="-122"/>
                <a:cs typeface="Times New Roman" pitchFamily="34" charset="-120"/>
              </a:rPr>
              <a:t>Thank You</a:t>
            </a:r>
            <a:endParaRPr lang="en-US" sz="6000" dirty="0"/>
          </a:p>
        </p:txBody>
      </p:sp>
      <p:sp>
        <p:nvSpPr>
          <p:cNvPr id="5" name="Text 2"/>
          <p:cNvSpPr txBox="1"/>
          <p:nvPr/>
        </p:nvSpPr>
        <p:spPr>
          <a:xfrm>
            <a:off x="914400" y="3474720"/>
            <a:ext cx="10360152" cy="548640"/>
          </a:xfrm>
          <a:prstGeom prst="rect">
            <a:avLst/>
          </a:prstGeom>
          <a:noFill/>
          <a:ln/>
        </p:spPr>
        <p:txBody>
          <a:bodyPr wrap="square" lIns="0" tIns="0" rIns="0" bIns="0" rtlCol="0" anchor="t"/>
          <a:lstStyle/>
          <a:p>
            <a:pPr marL="0" indent="0" algn="ctr">
              <a:buNone/>
            </a:pPr>
            <a:r>
              <a:rPr lang="en-US" sz="2600" dirty="0">
                <a:solidFill>
                  <a:srgbClr val="1F2A5A"/>
                </a:solidFill>
                <a:latin typeface="Times New Roman" pitchFamily="34" charset="0"/>
                <a:ea typeface="Times New Roman" pitchFamily="34" charset="-122"/>
                <a:cs typeface="Times New Roman" pitchFamily="34" charset="-120"/>
              </a:rPr>
              <a:t>Smart Movie Recommendation System</a:t>
            </a:r>
            <a:endParaRPr lang="en-US" sz="2600" dirty="0"/>
          </a:p>
        </p:txBody>
      </p:sp>
    </p:spTree>
  </p:cSld>
  <p:clrMapOvr>
    <a:masterClrMapping/>
  </p:clrMapOvr>
</p:sld>
</file>

<file path=ppt/theme/theme1.xml><?xml version="1.0" encoding="utf-8"?>
<a:theme xmlns:a="http://schemas.openxmlformats.org/drawingml/2006/main" name="Aditya ML Review">
  <a:themeElements>
    <a:clrScheme name="Aditya ML Review">
      <a:dk1>
        <a:srgbClr val="1F1F1F"/>
      </a:dk1>
      <a:lt1>
        <a:srgbClr val="FFFFFF"/>
      </a:lt1>
      <a:dk2>
        <a:srgbClr val="1F2A5A"/>
      </a:dk2>
      <a:lt2>
        <a:srgbClr val="F4F6FA"/>
      </a:lt2>
      <a:accent1>
        <a:srgbClr val="FF6600"/>
      </a:accent1>
      <a:accent2>
        <a:srgbClr val="1F2A5A"/>
      </a:accent2>
      <a:accent3>
        <a:srgbClr val="A9BCD6"/>
      </a:accent3>
      <a:accent4>
        <a:srgbClr val="8C2F2F"/>
      </a:accent4>
      <a:accent5>
        <a:srgbClr val="4A4A4A"/>
      </a:accent5>
      <a:accent6>
        <a:srgbClr val="FFF0E5"/>
      </a:accent6>
      <a:hlink>
        <a:srgbClr val="1F2A5A"/>
      </a:hlink>
      <a:folHlink>
        <a:srgbClr val="4A4A4A"/>
      </a:folHlink>
    </a:clrScheme>
    <a:fontScheme name="Aditya ML Review">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2156</Words>
  <Application>Microsoft Office PowerPoint</Application>
  <PresentationFormat>Widescreen</PresentationFormat>
  <Paragraphs>260</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Aditya ML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Movie Recommendation System - Final Review</dc:title>
  <dc:subject>PptxGenJS Presentation</dc:subject>
  <dc:creator>D. Swetha, K. Rishi Sahithi, K. Keerthi Reddy</dc:creator>
  <cp:lastModifiedBy>24B11AI154</cp:lastModifiedBy>
  <cp:revision>7</cp:revision>
  <dcterms:created xsi:type="dcterms:W3CDTF">2026-10-29T09:27:29Z</dcterms:created>
  <dcterms:modified xsi:type="dcterms:W3CDTF">2026-10-29T14:02:43Z</dcterms:modified>
</cp:coreProperties>
</file>